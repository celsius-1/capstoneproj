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7" r:id="rId10"/>
    <p:sldId id="270" r:id="rId11"/>
    <p:sldId id="268"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A46"/>
    <a:srgbClr val="00BC55"/>
    <a:srgbClr val="00B050"/>
    <a:srgbClr val="CBF6BC"/>
    <a:srgbClr val="BAE18F"/>
    <a:srgbClr val="99CC00"/>
    <a:srgbClr val="B6DF89"/>
    <a:srgbClr val="F83C28"/>
    <a:srgbClr val="FA5D4C"/>
    <a:srgbClr val="00C4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94660"/>
  </p:normalViewPr>
  <p:slideViewPr>
    <p:cSldViewPr snapToGrid="0" snapToObjects="1">
      <p:cViewPr>
        <p:scale>
          <a:sx n="75" d="100"/>
          <a:sy n="75" d="100"/>
        </p:scale>
        <p:origin x="438" y="-27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891D92-8AC8-4E3B-B546-66612CEEE0F7}" type="doc">
      <dgm:prSet loTypeId="urn:microsoft.com/office/officeart/2005/8/layout/pyramid3" loCatId="pyramid" qsTypeId="urn:microsoft.com/office/officeart/2005/8/quickstyle/simple3" qsCatId="simple" csTypeId="urn:microsoft.com/office/officeart/2005/8/colors/accent1_2" csCatId="accent1" phldr="1"/>
      <dgm:spPr/>
      <dgm:t>
        <a:bodyPr/>
        <a:lstStyle/>
        <a:p>
          <a:endParaRPr lang="en-US"/>
        </a:p>
      </dgm:t>
    </dgm:pt>
    <dgm:pt modelId="{322297F6-1535-43B3-B1E4-31A4F5F47E3B}">
      <dgm:prSet/>
      <dgm:spPr>
        <a:gradFill flip="none" rotWithShape="1">
          <a:gsLst>
            <a:gs pos="20000">
              <a:srgbClr val="00B050"/>
            </a:gs>
            <a:gs pos="70000">
              <a:schemeClr val="accent3">
                <a:lumMod val="60000"/>
                <a:lumOff val="40000"/>
              </a:schemeClr>
            </a:gs>
            <a:gs pos="100000">
              <a:srgbClr val="FFEBFA"/>
            </a:gs>
          </a:gsLst>
          <a:path path="circle">
            <a:fillToRect l="100000" t="100000"/>
          </a:path>
          <a:tileRect r="-100000" b="-100000"/>
        </a:gradFill>
        <a:ln>
          <a:noFill/>
        </a:ln>
      </dgm:spPr>
      <dgm:t>
        <a:bodyPr/>
        <a:lstStyle/>
        <a:p>
          <a:r>
            <a:rPr lang="en-US" b="1" i="0" dirty="0">
              <a:solidFill>
                <a:schemeClr val="bg1"/>
              </a:solidFill>
            </a:rPr>
            <a:t>CAPSTONE  PROJECT</a:t>
          </a:r>
        </a:p>
      </dgm:t>
    </dgm:pt>
    <dgm:pt modelId="{FA48640D-2D3D-4D08-8811-6EE068F3348F}" type="parTrans" cxnId="{33AA8E57-4304-48BF-89A7-B5F2F663C8C4}">
      <dgm:prSet/>
      <dgm:spPr/>
      <dgm:t>
        <a:bodyPr/>
        <a:lstStyle/>
        <a:p>
          <a:endParaRPr lang="en-US"/>
        </a:p>
      </dgm:t>
    </dgm:pt>
    <dgm:pt modelId="{C7DB7598-46FB-46C8-9FFA-0656FD1D6BC6}" type="sibTrans" cxnId="{33AA8E57-4304-48BF-89A7-B5F2F663C8C4}">
      <dgm:prSet/>
      <dgm:spPr/>
      <dgm:t>
        <a:bodyPr/>
        <a:lstStyle/>
        <a:p>
          <a:endParaRPr lang="en-US"/>
        </a:p>
      </dgm:t>
    </dgm:pt>
    <dgm:pt modelId="{3E3BD446-73A3-4DD4-ABF5-5CA9557BDA81}">
      <dgm:prSet/>
      <dgm:spPr>
        <a:gradFill flip="none" rotWithShape="1">
          <a:gsLst>
            <a:gs pos="0">
              <a:srgbClr val="FF0000"/>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0"/>
          <a:tileRect/>
        </a:gradFill>
      </dgm:spPr>
      <dgm:t>
        <a:bodyPr/>
        <a:lstStyle/>
        <a:p>
          <a:r>
            <a:rPr lang="en-US" b="1" i="1" dirty="0">
              <a:solidFill>
                <a:schemeClr val="bg1"/>
              </a:solidFill>
            </a:rPr>
            <a:t>ON</a:t>
          </a:r>
          <a:endParaRPr lang="en-US" b="1" dirty="0">
            <a:solidFill>
              <a:schemeClr val="bg1"/>
            </a:solidFill>
          </a:endParaRPr>
        </a:p>
      </dgm:t>
    </dgm:pt>
    <dgm:pt modelId="{1D843973-96C4-44EB-B4A0-B59C7CA2B493}" type="parTrans" cxnId="{7137C132-70DD-4663-A454-2B9EE0009ADF}">
      <dgm:prSet/>
      <dgm:spPr/>
      <dgm:t>
        <a:bodyPr/>
        <a:lstStyle/>
        <a:p>
          <a:endParaRPr lang="en-US"/>
        </a:p>
      </dgm:t>
    </dgm:pt>
    <dgm:pt modelId="{7707B208-785A-4550-8C59-4F54210F0F11}" type="sibTrans" cxnId="{7137C132-70DD-4663-A454-2B9EE0009ADF}">
      <dgm:prSet/>
      <dgm:spPr/>
      <dgm:t>
        <a:bodyPr/>
        <a:lstStyle/>
        <a:p>
          <a:endParaRPr lang="en-US"/>
        </a:p>
      </dgm:t>
    </dgm:pt>
    <dgm:pt modelId="{557A5468-9FA7-431A-BABE-C3E288E394E7}" type="pres">
      <dgm:prSet presAssocID="{E7891D92-8AC8-4E3B-B546-66612CEEE0F7}" presName="Name0" presStyleCnt="0">
        <dgm:presLayoutVars>
          <dgm:dir/>
          <dgm:animLvl val="lvl"/>
          <dgm:resizeHandles val="exact"/>
        </dgm:presLayoutVars>
      </dgm:prSet>
      <dgm:spPr/>
    </dgm:pt>
    <dgm:pt modelId="{7F063DD5-C5DF-4EE3-BC90-BF02E3ED7683}" type="pres">
      <dgm:prSet presAssocID="{322297F6-1535-43B3-B1E4-31A4F5F47E3B}" presName="Name8" presStyleCnt="0"/>
      <dgm:spPr/>
    </dgm:pt>
    <dgm:pt modelId="{EF01DA1F-5AB1-4274-895D-A57308942D68}" type="pres">
      <dgm:prSet presAssocID="{322297F6-1535-43B3-B1E4-31A4F5F47E3B}" presName="level" presStyleLbl="node1" presStyleIdx="0" presStyleCnt="2">
        <dgm:presLayoutVars>
          <dgm:chMax val="1"/>
          <dgm:bulletEnabled val="1"/>
        </dgm:presLayoutVars>
      </dgm:prSet>
      <dgm:spPr/>
    </dgm:pt>
    <dgm:pt modelId="{A1DC5C4E-4BF3-4255-A2D8-ED01A1A154DA}" type="pres">
      <dgm:prSet presAssocID="{322297F6-1535-43B3-B1E4-31A4F5F47E3B}" presName="levelTx" presStyleLbl="revTx" presStyleIdx="0" presStyleCnt="0">
        <dgm:presLayoutVars>
          <dgm:chMax val="1"/>
          <dgm:bulletEnabled val="1"/>
        </dgm:presLayoutVars>
      </dgm:prSet>
      <dgm:spPr/>
    </dgm:pt>
    <dgm:pt modelId="{3C613CF6-CB26-49C1-9D4A-FD65EC6A9215}" type="pres">
      <dgm:prSet presAssocID="{3E3BD446-73A3-4DD4-ABF5-5CA9557BDA81}" presName="Name8" presStyleCnt="0"/>
      <dgm:spPr/>
    </dgm:pt>
    <dgm:pt modelId="{F8DD70A5-85F5-439B-AC1D-7C42975B1698}" type="pres">
      <dgm:prSet presAssocID="{3E3BD446-73A3-4DD4-ABF5-5CA9557BDA81}" presName="level" presStyleLbl="node1" presStyleIdx="1" presStyleCnt="2">
        <dgm:presLayoutVars>
          <dgm:chMax val="1"/>
          <dgm:bulletEnabled val="1"/>
        </dgm:presLayoutVars>
      </dgm:prSet>
      <dgm:spPr/>
    </dgm:pt>
    <dgm:pt modelId="{36F8DB93-3406-46ED-8A9C-D6D7AC7084E6}" type="pres">
      <dgm:prSet presAssocID="{3E3BD446-73A3-4DD4-ABF5-5CA9557BDA81}" presName="levelTx" presStyleLbl="revTx" presStyleIdx="0" presStyleCnt="0">
        <dgm:presLayoutVars>
          <dgm:chMax val="1"/>
          <dgm:bulletEnabled val="1"/>
        </dgm:presLayoutVars>
      </dgm:prSet>
      <dgm:spPr/>
    </dgm:pt>
  </dgm:ptLst>
  <dgm:cxnLst>
    <dgm:cxn modelId="{7137C132-70DD-4663-A454-2B9EE0009ADF}" srcId="{E7891D92-8AC8-4E3B-B546-66612CEEE0F7}" destId="{3E3BD446-73A3-4DD4-ABF5-5CA9557BDA81}" srcOrd="1" destOrd="0" parTransId="{1D843973-96C4-44EB-B4A0-B59C7CA2B493}" sibTransId="{7707B208-785A-4550-8C59-4F54210F0F11}"/>
    <dgm:cxn modelId="{50D72A6E-B757-4D84-9F50-CAF34AB865C9}" type="presOf" srcId="{322297F6-1535-43B3-B1E4-31A4F5F47E3B}" destId="{EF01DA1F-5AB1-4274-895D-A57308942D68}" srcOrd="0" destOrd="0" presId="urn:microsoft.com/office/officeart/2005/8/layout/pyramid3"/>
    <dgm:cxn modelId="{33AA8E57-4304-48BF-89A7-B5F2F663C8C4}" srcId="{E7891D92-8AC8-4E3B-B546-66612CEEE0F7}" destId="{322297F6-1535-43B3-B1E4-31A4F5F47E3B}" srcOrd="0" destOrd="0" parTransId="{FA48640D-2D3D-4D08-8811-6EE068F3348F}" sibTransId="{C7DB7598-46FB-46C8-9FFA-0656FD1D6BC6}"/>
    <dgm:cxn modelId="{704613B6-87EE-4219-B399-F778B225E652}" type="presOf" srcId="{E7891D92-8AC8-4E3B-B546-66612CEEE0F7}" destId="{557A5468-9FA7-431A-BABE-C3E288E394E7}" srcOrd="0" destOrd="0" presId="urn:microsoft.com/office/officeart/2005/8/layout/pyramid3"/>
    <dgm:cxn modelId="{47DD56C5-484D-45D2-80A4-AAC70FD10AC8}" type="presOf" srcId="{3E3BD446-73A3-4DD4-ABF5-5CA9557BDA81}" destId="{36F8DB93-3406-46ED-8A9C-D6D7AC7084E6}" srcOrd="1" destOrd="0" presId="urn:microsoft.com/office/officeart/2005/8/layout/pyramid3"/>
    <dgm:cxn modelId="{DB6A0FD9-C3C6-463C-AEA7-DBD79B718CCF}" type="presOf" srcId="{3E3BD446-73A3-4DD4-ABF5-5CA9557BDA81}" destId="{F8DD70A5-85F5-439B-AC1D-7C42975B1698}" srcOrd="0" destOrd="0" presId="urn:microsoft.com/office/officeart/2005/8/layout/pyramid3"/>
    <dgm:cxn modelId="{C756CEDA-2F10-4E72-BD98-592637766F69}" type="presOf" srcId="{322297F6-1535-43B3-B1E4-31A4F5F47E3B}" destId="{A1DC5C4E-4BF3-4255-A2D8-ED01A1A154DA}" srcOrd="1" destOrd="0" presId="urn:microsoft.com/office/officeart/2005/8/layout/pyramid3"/>
    <dgm:cxn modelId="{D941902D-3BEE-4783-A790-4B1E3944D721}" type="presParOf" srcId="{557A5468-9FA7-431A-BABE-C3E288E394E7}" destId="{7F063DD5-C5DF-4EE3-BC90-BF02E3ED7683}" srcOrd="0" destOrd="0" presId="urn:microsoft.com/office/officeart/2005/8/layout/pyramid3"/>
    <dgm:cxn modelId="{C845A2B6-0CD0-472A-B2D7-13990469BD0B}" type="presParOf" srcId="{7F063DD5-C5DF-4EE3-BC90-BF02E3ED7683}" destId="{EF01DA1F-5AB1-4274-895D-A57308942D68}" srcOrd="0" destOrd="0" presId="urn:microsoft.com/office/officeart/2005/8/layout/pyramid3"/>
    <dgm:cxn modelId="{C3D3CBB2-B793-4BA7-A9DF-8AFBBE9BFA11}" type="presParOf" srcId="{7F063DD5-C5DF-4EE3-BC90-BF02E3ED7683}" destId="{A1DC5C4E-4BF3-4255-A2D8-ED01A1A154DA}" srcOrd="1" destOrd="0" presId="urn:microsoft.com/office/officeart/2005/8/layout/pyramid3"/>
    <dgm:cxn modelId="{746B1309-92D5-4F3E-A049-04524A1A0BF2}" type="presParOf" srcId="{557A5468-9FA7-431A-BABE-C3E288E394E7}" destId="{3C613CF6-CB26-49C1-9D4A-FD65EC6A9215}" srcOrd="1" destOrd="0" presId="urn:microsoft.com/office/officeart/2005/8/layout/pyramid3"/>
    <dgm:cxn modelId="{D61B9826-21CF-4030-B3DD-1AC97AF60C80}" type="presParOf" srcId="{3C613CF6-CB26-49C1-9D4A-FD65EC6A9215}" destId="{F8DD70A5-85F5-439B-AC1D-7C42975B1698}" srcOrd="0" destOrd="0" presId="urn:microsoft.com/office/officeart/2005/8/layout/pyramid3"/>
    <dgm:cxn modelId="{D47323F1-8412-4CFD-B291-54FA38064B62}" type="presParOf" srcId="{3C613CF6-CB26-49C1-9D4A-FD65EC6A9215}" destId="{36F8DB93-3406-46ED-8A9C-D6D7AC7084E6}"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0A0B8F-86DE-48AF-B426-7BD048AFBB39}" type="doc">
      <dgm:prSet loTypeId="urn:microsoft.com/office/officeart/2011/layout/ConvergingText" loCatId="process" qsTypeId="urn:microsoft.com/office/officeart/2005/8/quickstyle/3d1" qsCatId="3D" csTypeId="urn:microsoft.com/office/officeart/2005/8/colors/accent1_2" csCatId="accent1" phldr="1"/>
      <dgm:spPr/>
      <dgm:t>
        <a:bodyPr/>
        <a:lstStyle/>
        <a:p>
          <a:endParaRPr lang="en-US"/>
        </a:p>
      </dgm:t>
    </dgm:pt>
    <dgm:pt modelId="{8581AA94-2EEC-4039-B0A9-18CD48054263}">
      <dgm:prSet custT="1"/>
      <dgm:spPr>
        <a:pattFill prst="pct5">
          <a:fgClr>
            <a:srgbClr val="92D050"/>
          </a:fgClr>
          <a:bgClr>
            <a:srgbClr val="00B050"/>
          </a:bgClr>
        </a:pattFill>
        <a:ln>
          <a:solidFill>
            <a:srgbClr val="F83C28"/>
          </a:solidFill>
        </a:ln>
      </dgm:spPr>
      <dgm:t>
        <a:bodyPr/>
        <a:lstStyle/>
        <a:p>
          <a:pPr algn="l"/>
          <a:r>
            <a:rPr lang="en-US" sz="2400" b="1" i="1" dirty="0">
              <a:solidFill>
                <a:schemeClr val="bg1"/>
              </a:solidFill>
            </a:rPr>
            <a:t>This project explores malaria prevalence in Nigeria integrating Geospatial data, Demographic, and Machine Learning insights to inform targeted interventions and resource allocation. Built classification models to predict risk categories, support evidence-based decision-making for malaria control strategies in Nigeria.  </a:t>
          </a:r>
          <a:endParaRPr lang="en-US" sz="2400" b="1" dirty="0">
            <a:solidFill>
              <a:schemeClr val="bg1"/>
            </a:solidFill>
          </a:endParaRPr>
        </a:p>
      </dgm:t>
    </dgm:pt>
    <dgm:pt modelId="{141B65AC-BCE4-4EC0-A4DB-E0EDE340743A}" type="parTrans" cxnId="{F4D93E30-F4FA-47C3-9C7D-37E43846FC05}">
      <dgm:prSet/>
      <dgm:spPr/>
      <dgm:t>
        <a:bodyPr/>
        <a:lstStyle/>
        <a:p>
          <a:endParaRPr lang="en-US"/>
        </a:p>
      </dgm:t>
    </dgm:pt>
    <dgm:pt modelId="{12BC5F0B-00FA-48FD-A0FE-40CEC4196EE3}" type="sibTrans" cxnId="{F4D93E30-F4FA-47C3-9C7D-37E43846FC05}">
      <dgm:prSet/>
      <dgm:spPr/>
      <dgm:t>
        <a:bodyPr/>
        <a:lstStyle/>
        <a:p>
          <a:endParaRPr lang="en-US"/>
        </a:p>
      </dgm:t>
    </dgm:pt>
    <dgm:pt modelId="{CAD81836-CE46-4692-B35D-DAC1B5898832}" type="pres">
      <dgm:prSet presAssocID="{B10A0B8F-86DE-48AF-B426-7BD048AFBB39}" presName="Name0" presStyleCnt="0">
        <dgm:presLayoutVars>
          <dgm:chMax/>
          <dgm:chPref val="1"/>
          <dgm:dir/>
          <dgm:animOne val="branch"/>
          <dgm:animLvl val="lvl"/>
          <dgm:resizeHandles/>
        </dgm:presLayoutVars>
      </dgm:prSet>
      <dgm:spPr/>
    </dgm:pt>
    <dgm:pt modelId="{F5D32F7A-CD06-4978-9972-D3BE5A782ABE}" type="pres">
      <dgm:prSet presAssocID="{8581AA94-2EEC-4039-B0A9-18CD48054263}" presName="composite" presStyleCnt="0"/>
      <dgm:spPr/>
    </dgm:pt>
    <dgm:pt modelId="{9249861C-65F8-4117-A6B1-E759A62FBA56}" type="pres">
      <dgm:prSet presAssocID="{8581AA94-2EEC-4039-B0A9-18CD48054263}" presName="ParentAccent1" presStyleLbl="alignNode1" presStyleIdx="0" presStyleCnt="11" custLinFactX="-1368444" custLinFactY="-100000" custLinFactNeighborX="-1400000" custLinFactNeighborY="-164511"/>
      <dgm:spPr>
        <a:pattFill prst="pct5">
          <a:fgClr>
            <a:srgbClr val="92D050"/>
          </a:fgClr>
          <a:bgClr>
            <a:schemeClr val="bg1"/>
          </a:bgClr>
        </a:pattFill>
      </dgm:spPr>
    </dgm:pt>
    <dgm:pt modelId="{AB3E947E-ECAA-4BBC-956B-4F9C29D892D0}" type="pres">
      <dgm:prSet presAssocID="{8581AA94-2EEC-4039-B0A9-18CD48054263}" presName="ParentAccent2" presStyleLbl="alignNode1" presStyleIdx="1" presStyleCnt="11" custLinFactX="48844" custLinFactY="104681" custLinFactNeighborX="100000" custLinFactNeighborY="200000"/>
      <dgm:spPr>
        <a:pattFill prst="pct5">
          <a:fgClr>
            <a:srgbClr val="92D050"/>
          </a:fgClr>
          <a:bgClr>
            <a:schemeClr val="bg1"/>
          </a:bgClr>
        </a:pattFill>
      </dgm:spPr>
    </dgm:pt>
    <dgm:pt modelId="{09832126-19EE-4890-A7AA-729D6371AC95}" type="pres">
      <dgm:prSet presAssocID="{8581AA94-2EEC-4039-B0A9-18CD48054263}" presName="ParentAccent3" presStyleLbl="alignNode1" presStyleIdx="2" presStyleCnt="11" custLinFactX="120091" custLinFactY="-100000" custLinFactNeighborX="200000" custLinFactNeighborY="-154096"/>
      <dgm:spPr>
        <a:pattFill prst="pct5">
          <a:fgClr>
            <a:srgbClr val="92D050"/>
          </a:fgClr>
          <a:bgClr>
            <a:schemeClr val="bg1"/>
          </a:bgClr>
        </a:pattFill>
      </dgm:spPr>
    </dgm:pt>
    <dgm:pt modelId="{CED72E11-DECE-4D49-92B8-ED8084957782}" type="pres">
      <dgm:prSet presAssocID="{8581AA94-2EEC-4039-B0A9-18CD48054263}" presName="ParentAccent4" presStyleLbl="alignNode1" presStyleIdx="3" presStyleCnt="11" custLinFactX="-1100000" custLinFactY="100000" custLinFactNeighborX="-1158636" custLinFactNeighborY="177437"/>
      <dgm:spPr>
        <a:pattFill prst="pct5">
          <a:fgClr>
            <a:srgbClr val="92D050"/>
          </a:fgClr>
          <a:bgClr>
            <a:schemeClr val="bg1"/>
          </a:bgClr>
        </a:pattFill>
      </dgm:spPr>
    </dgm:pt>
    <dgm:pt modelId="{6035B47D-CF66-4DAB-B056-BD9617F38713}" type="pres">
      <dgm:prSet presAssocID="{8581AA94-2EEC-4039-B0A9-18CD48054263}" presName="ParentAccent5" presStyleLbl="alignNode1" presStyleIdx="4" presStyleCnt="11" custLinFactX="-262376" custLinFactY="192140" custLinFactNeighborX="-300000" custLinFactNeighborY="200000"/>
      <dgm:spPr/>
    </dgm:pt>
    <dgm:pt modelId="{78466170-C840-4A93-891C-718F265F6B5D}" type="pres">
      <dgm:prSet presAssocID="{8581AA94-2EEC-4039-B0A9-18CD48054263}" presName="ParentAccent6" presStyleLbl="alignNode1" presStyleIdx="5" presStyleCnt="11"/>
      <dgm:spPr/>
    </dgm:pt>
    <dgm:pt modelId="{1131D617-F9AA-4737-A53F-24C6C5C1DACA}" type="pres">
      <dgm:prSet presAssocID="{8581AA94-2EEC-4039-B0A9-18CD48054263}" presName="ParentAccent7" presStyleLbl="alignNode1" presStyleIdx="6" presStyleCnt="11" custLinFactX="42021" custLinFactY="-288872" custLinFactNeighborX="100000" custLinFactNeighborY="-300000"/>
      <dgm:spPr>
        <a:pattFill prst="pct5">
          <a:fgClr>
            <a:srgbClr val="92D050"/>
          </a:fgClr>
          <a:bgClr>
            <a:schemeClr val="bg1"/>
          </a:bgClr>
        </a:pattFill>
      </dgm:spPr>
    </dgm:pt>
    <dgm:pt modelId="{4562F25B-EA9B-4249-B31A-B9486E52CB0F}" type="pres">
      <dgm:prSet presAssocID="{8581AA94-2EEC-4039-B0A9-18CD48054263}" presName="ParentAccent8" presStyleLbl="alignNode1" presStyleIdx="7" presStyleCnt="11" custLinFactX="-1300000" custLinFactY="292627" custLinFactNeighborX="-1305331" custLinFactNeighborY="300000"/>
      <dgm:spPr>
        <a:pattFill prst="pct5">
          <a:fgClr>
            <a:srgbClr val="92D050"/>
          </a:fgClr>
          <a:bgClr>
            <a:schemeClr val="bg1"/>
          </a:bgClr>
        </a:pattFill>
      </dgm:spPr>
    </dgm:pt>
    <dgm:pt modelId="{FEAE271F-D66D-4A5C-8121-07947AB6070F}" type="pres">
      <dgm:prSet presAssocID="{8581AA94-2EEC-4039-B0A9-18CD48054263}" presName="ParentAccent9" presStyleLbl="alignNode1" presStyleIdx="8" presStyleCnt="11" custLinFactX="-1300000" custLinFactY="-400000" custLinFactNeighborX="-1394670" custLinFactNeighborY="-451093"/>
      <dgm:spPr>
        <a:pattFill prst="pct5">
          <a:fgClr>
            <a:srgbClr val="92D050"/>
          </a:fgClr>
          <a:bgClr>
            <a:schemeClr val="bg1"/>
          </a:bgClr>
        </a:pattFill>
      </dgm:spPr>
    </dgm:pt>
    <dgm:pt modelId="{5A54366C-8E5A-45E6-AEA6-611A5617E160}" type="pres">
      <dgm:prSet presAssocID="{8581AA94-2EEC-4039-B0A9-18CD48054263}" presName="ParentAccent10" presStyleLbl="alignNode1" presStyleIdx="9" presStyleCnt="11" custLinFactY="300000" custLinFactNeighborX="68439" custLinFactNeighborY="382000"/>
      <dgm:spPr>
        <a:pattFill prst="pct5">
          <a:fgClr>
            <a:srgbClr val="92D050"/>
          </a:fgClr>
          <a:bgClr>
            <a:schemeClr val="bg1"/>
          </a:bgClr>
        </a:pattFill>
      </dgm:spPr>
    </dgm:pt>
    <dgm:pt modelId="{21CDA2F5-EA7D-4126-AF89-FDE244A1CF80}" type="pres">
      <dgm:prSet presAssocID="{8581AA94-2EEC-4039-B0A9-18CD48054263}" presName="Parent" presStyleLbl="alignNode1" presStyleIdx="10" presStyleCnt="11" custScaleX="245295" custScaleY="129131" custLinFactNeighborX="17703" custLinFactNeighborY="1679">
        <dgm:presLayoutVars>
          <dgm:chMax val="5"/>
          <dgm:chPref val="3"/>
          <dgm:bulletEnabled val="1"/>
        </dgm:presLayoutVars>
      </dgm:prSet>
      <dgm:spPr>
        <a:prstGeom prst="rect">
          <a:avLst/>
        </a:prstGeom>
      </dgm:spPr>
    </dgm:pt>
  </dgm:ptLst>
  <dgm:cxnLst>
    <dgm:cxn modelId="{F4D93E30-F4FA-47C3-9C7D-37E43846FC05}" srcId="{B10A0B8F-86DE-48AF-B426-7BD048AFBB39}" destId="{8581AA94-2EEC-4039-B0A9-18CD48054263}" srcOrd="0" destOrd="0" parTransId="{141B65AC-BCE4-4EC0-A4DB-E0EDE340743A}" sibTransId="{12BC5F0B-00FA-48FD-A0FE-40CEC4196EE3}"/>
    <dgm:cxn modelId="{88C13997-4AD0-4096-A569-C32211F2BE2B}" type="presOf" srcId="{8581AA94-2EEC-4039-B0A9-18CD48054263}" destId="{21CDA2F5-EA7D-4126-AF89-FDE244A1CF80}" srcOrd="0" destOrd="0" presId="urn:microsoft.com/office/officeart/2011/layout/ConvergingText"/>
    <dgm:cxn modelId="{640A48BE-AD4A-45FE-8A86-3B8BD936204C}" type="presOf" srcId="{B10A0B8F-86DE-48AF-B426-7BD048AFBB39}" destId="{CAD81836-CE46-4692-B35D-DAC1B5898832}" srcOrd="0" destOrd="0" presId="urn:microsoft.com/office/officeart/2011/layout/ConvergingText"/>
    <dgm:cxn modelId="{1F9DF943-E910-4BF1-BD10-CBD925AB5506}" type="presParOf" srcId="{CAD81836-CE46-4692-B35D-DAC1B5898832}" destId="{F5D32F7A-CD06-4978-9972-D3BE5A782ABE}" srcOrd="0" destOrd="0" presId="urn:microsoft.com/office/officeart/2011/layout/ConvergingText"/>
    <dgm:cxn modelId="{4AB15DA7-E6CE-4AD7-8A9D-27A54D0570D4}" type="presParOf" srcId="{F5D32F7A-CD06-4978-9972-D3BE5A782ABE}" destId="{9249861C-65F8-4117-A6B1-E759A62FBA56}" srcOrd="0" destOrd="0" presId="urn:microsoft.com/office/officeart/2011/layout/ConvergingText"/>
    <dgm:cxn modelId="{CA56DDF0-EA5D-4FCE-948C-E6D744A66857}" type="presParOf" srcId="{F5D32F7A-CD06-4978-9972-D3BE5A782ABE}" destId="{AB3E947E-ECAA-4BBC-956B-4F9C29D892D0}" srcOrd="1" destOrd="0" presId="urn:microsoft.com/office/officeart/2011/layout/ConvergingText"/>
    <dgm:cxn modelId="{9C8B3B93-60B0-4D21-98C7-A13653CA7862}" type="presParOf" srcId="{F5D32F7A-CD06-4978-9972-D3BE5A782ABE}" destId="{09832126-19EE-4890-A7AA-729D6371AC95}" srcOrd="2" destOrd="0" presId="urn:microsoft.com/office/officeart/2011/layout/ConvergingText"/>
    <dgm:cxn modelId="{A9C511F2-C87E-4A43-A828-2DC98F2416D1}" type="presParOf" srcId="{F5D32F7A-CD06-4978-9972-D3BE5A782ABE}" destId="{CED72E11-DECE-4D49-92B8-ED8084957782}" srcOrd="3" destOrd="0" presId="urn:microsoft.com/office/officeart/2011/layout/ConvergingText"/>
    <dgm:cxn modelId="{B1B8ACCA-C5E0-4025-B241-88A589D6FE58}" type="presParOf" srcId="{F5D32F7A-CD06-4978-9972-D3BE5A782ABE}" destId="{6035B47D-CF66-4DAB-B056-BD9617F38713}" srcOrd="4" destOrd="0" presId="urn:microsoft.com/office/officeart/2011/layout/ConvergingText"/>
    <dgm:cxn modelId="{ECA1D390-8FE1-4C4C-BF02-DC0E9E9B29B4}" type="presParOf" srcId="{F5D32F7A-CD06-4978-9972-D3BE5A782ABE}" destId="{78466170-C840-4A93-891C-718F265F6B5D}" srcOrd="5" destOrd="0" presId="urn:microsoft.com/office/officeart/2011/layout/ConvergingText"/>
    <dgm:cxn modelId="{D5B010D9-671E-45A2-A37E-CCFF42D9A0B1}" type="presParOf" srcId="{F5D32F7A-CD06-4978-9972-D3BE5A782ABE}" destId="{1131D617-F9AA-4737-A53F-24C6C5C1DACA}" srcOrd="6" destOrd="0" presId="urn:microsoft.com/office/officeart/2011/layout/ConvergingText"/>
    <dgm:cxn modelId="{62F94C9C-D810-483B-9E95-8F13DC7CE001}" type="presParOf" srcId="{F5D32F7A-CD06-4978-9972-D3BE5A782ABE}" destId="{4562F25B-EA9B-4249-B31A-B9486E52CB0F}" srcOrd="7" destOrd="0" presId="urn:microsoft.com/office/officeart/2011/layout/ConvergingText"/>
    <dgm:cxn modelId="{E626D8FB-DD06-40E7-815C-D933400308D2}" type="presParOf" srcId="{F5D32F7A-CD06-4978-9972-D3BE5A782ABE}" destId="{FEAE271F-D66D-4A5C-8121-07947AB6070F}" srcOrd="8" destOrd="0" presId="urn:microsoft.com/office/officeart/2011/layout/ConvergingText"/>
    <dgm:cxn modelId="{A53B072C-D30F-432F-9D09-7D764C524414}" type="presParOf" srcId="{F5D32F7A-CD06-4978-9972-D3BE5A782ABE}" destId="{5A54366C-8E5A-45E6-AEA6-611A5617E160}" srcOrd="9" destOrd="0" presId="urn:microsoft.com/office/officeart/2011/layout/ConvergingText"/>
    <dgm:cxn modelId="{221B49ED-A0E3-44A9-A12D-3F4BD589A14D}" type="presParOf" srcId="{F5D32F7A-CD06-4978-9972-D3BE5A782ABE}" destId="{21CDA2F5-EA7D-4126-AF89-FDE244A1CF80}" srcOrd="10" destOrd="0" presId="urn:microsoft.com/office/officeart/2011/layout/ConvergingTex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01DA1F-5AB1-4274-895D-A57308942D68}">
      <dsp:nvSpPr>
        <dsp:cNvPr id="0" name=""/>
        <dsp:cNvSpPr/>
      </dsp:nvSpPr>
      <dsp:spPr>
        <a:xfrm rot="10800000">
          <a:off x="0" y="0"/>
          <a:ext cx="3932730" cy="600164"/>
        </a:xfrm>
        <a:prstGeom prst="trapezoid">
          <a:avLst>
            <a:gd name="adj" fmla="val 163819"/>
          </a:avLst>
        </a:prstGeom>
        <a:gradFill flip="none" rotWithShape="1">
          <a:gsLst>
            <a:gs pos="20000">
              <a:srgbClr val="00B050"/>
            </a:gs>
            <a:gs pos="70000">
              <a:schemeClr val="accent3">
                <a:lumMod val="60000"/>
                <a:lumOff val="40000"/>
              </a:schemeClr>
            </a:gs>
            <a:gs pos="100000">
              <a:srgbClr val="FFEBFA"/>
            </a:gs>
          </a:gsLst>
          <a:path path="circle">
            <a:fillToRect l="100000" t="100000"/>
          </a:path>
          <a:tileRect r="-100000" b="-100000"/>
        </a:gradFill>
        <a:ln>
          <a:noFill/>
        </a:ln>
        <a:effectLst>
          <a:outerShdw blurRad="76200" dist="50800" dir="5400000" rotWithShape="0">
            <a:srgbClr val="4E3B30">
              <a:alpha val="6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i="0" kern="1200" dirty="0">
              <a:solidFill>
                <a:schemeClr val="bg1"/>
              </a:solidFill>
            </a:rPr>
            <a:t>CAPSTONE  PROJECT</a:t>
          </a:r>
        </a:p>
      </dsp:txBody>
      <dsp:txXfrm rot="-10800000">
        <a:off x="688227" y="0"/>
        <a:ext cx="2556274" cy="600164"/>
      </dsp:txXfrm>
    </dsp:sp>
    <dsp:sp modelId="{F8DD70A5-85F5-439B-AC1D-7C42975B1698}">
      <dsp:nvSpPr>
        <dsp:cNvPr id="0" name=""/>
        <dsp:cNvSpPr/>
      </dsp:nvSpPr>
      <dsp:spPr>
        <a:xfrm rot="10800000">
          <a:off x="983182" y="600164"/>
          <a:ext cx="1966365" cy="600164"/>
        </a:xfrm>
        <a:prstGeom prst="trapezoid">
          <a:avLst>
            <a:gd name="adj" fmla="val 163819"/>
          </a:avLst>
        </a:prstGeom>
        <a:gradFill flip="none" rotWithShape="1">
          <a:gsLst>
            <a:gs pos="0">
              <a:srgbClr val="FF0000"/>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0"/>
          <a:tileRect/>
        </a:gradFill>
        <a:ln>
          <a:noFill/>
        </a:ln>
        <a:effectLst>
          <a:outerShdw blurRad="76200" dist="50800" dir="5400000" rotWithShape="0">
            <a:srgbClr val="4E3B30">
              <a:alpha val="6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i="1" kern="1200" dirty="0">
              <a:solidFill>
                <a:schemeClr val="bg1"/>
              </a:solidFill>
            </a:rPr>
            <a:t>ON</a:t>
          </a:r>
          <a:endParaRPr lang="en-US" sz="2300" b="1" kern="1200" dirty="0">
            <a:solidFill>
              <a:schemeClr val="bg1"/>
            </a:solidFill>
          </a:endParaRPr>
        </a:p>
      </dsp:txBody>
      <dsp:txXfrm rot="-10800000">
        <a:off x="983182" y="600164"/>
        <a:ext cx="1966365" cy="600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9861C-65F8-4117-A6B1-E759A62FBA56}">
      <dsp:nvSpPr>
        <dsp:cNvPr id="0" name=""/>
        <dsp:cNvSpPr/>
      </dsp:nvSpPr>
      <dsp:spPr>
        <a:xfrm>
          <a:off x="1" y="1578029"/>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AB3E947E-ECAA-4BBC-956B-4F9C29D892D0}">
      <dsp:nvSpPr>
        <dsp:cNvPr id="0" name=""/>
        <dsp:cNvSpPr/>
      </dsp:nvSpPr>
      <dsp:spPr>
        <a:xfrm>
          <a:off x="8082505" y="3253114"/>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09832126-19EE-4890-A7AA-729D6371AC95}">
      <dsp:nvSpPr>
        <dsp:cNvPr id="0" name=""/>
        <dsp:cNvSpPr/>
      </dsp:nvSpPr>
      <dsp:spPr>
        <a:xfrm>
          <a:off x="8086362" y="1608680"/>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CED72E11-DECE-4D49-92B8-ED8084957782}">
      <dsp:nvSpPr>
        <dsp:cNvPr id="0" name=""/>
        <dsp:cNvSpPr/>
      </dsp:nvSpPr>
      <dsp:spPr>
        <a:xfrm>
          <a:off x="0" y="3172937"/>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6035B47D-CF66-4DAB-B056-BD9617F38713}">
      <dsp:nvSpPr>
        <dsp:cNvPr id="0" name=""/>
        <dsp:cNvSpPr/>
      </dsp:nvSpPr>
      <dsp:spPr>
        <a:xfrm>
          <a:off x="4490331" y="3510499"/>
          <a:ext cx="294192" cy="294291"/>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78466170-C840-4A93-891C-718F265F6B5D}">
      <dsp:nvSpPr>
        <dsp:cNvPr id="0" name=""/>
        <dsp:cNvSpPr/>
      </dsp:nvSpPr>
      <dsp:spPr>
        <a:xfrm>
          <a:off x="5350041" y="2209317"/>
          <a:ext cx="589012" cy="588583"/>
        </a:xfrm>
        <a:prstGeom prst="ellipse">
          <a:avLst/>
        </a:prstGeom>
        <a:gradFill rotWithShape="0">
          <a:gsLst>
            <a:gs pos="0">
              <a:schemeClr val="accent1">
                <a:hueOff val="0"/>
                <a:satOff val="0"/>
                <a:lumOff val="0"/>
                <a:alphaOff val="0"/>
                <a:tint val="75000"/>
                <a:shade val="85000"/>
                <a:satMod val="230000"/>
              </a:schemeClr>
            </a:gs>
            <a:gs pos="25000">
              <a:schemeClr val="accent1">
                <a:hueOff val="0"/>
                <a:satOff val="0"/>
                <a:lumOff val="0"/>
                <a:alphaOff val="0"/>
                <a:tint val="90000"/>
                <a:shade val="70000"/>
                <a:satMod val="220000"/>
              </a:schemeClr>
            </a:gs>
            <a:gs pos="50000">
              <a:schemeClr val="accent1">
                <a:hueOff val="0"/>
                <a:satOff val="0"/>
                <a:lumOff val="0"/>
                <a:alphaOff val="0"/>
                <a:tint val="90000"/>
                <a:shade val="58000"/>
                <a:satMod val="225000"/>
              </a:schemeClr>
            </a:gs>
            <a:gs pos="65000">
              <a:schemeClr val="accent1">
                <a:hueOff val="0"/>
                <a:satOff val="0"/>
                <a:lumOff val="0"/>
                <a:alphaOff val="0"/>
                <a:tint val="90000"/>
                <a:shade val="58000"/>
                <a:satMod val="225000"/>
              </a:schemeClr>
            </a:gs>
            <a:gs pos="80000">
              <a:schemeClr val="accent1">
                <a:hueOff val="0"/>
                <a:satOff val="0"/>
                <a:lumOff val="0"/>
                <a:alphaOff val="0"/>
                <a:tint val="90000"/>
                <a:shade val="69000"/>
                <a:satMod val="220000"/>
              </a:schemeClr>
            </a:gs>
            <a:gs pos="100000">
              <a:schemeClr val="accent1">
                <a:hueOff val="0"/>
                <a:satOff val="0"/>
                <a:lumOff val="0"/>
                <a:alphaOff val="0"/>
                <a:tint val="77000"/>
                <a:shade val="80000"/>
                <a:satMod val="230000"/>
              </a:schemeClr>
            </a:gs>
          </a:gsLst>
          <a:lin ang="5400000" scaled="1"/>
        </a:grad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1131D617-F9AA-4737-A53F-24C6C5C1DACA}">
      <dsp:nvSpPr>
        <dsp:cNvPr id="0" name=""/>
        <dsp:cNvSpPr/>
      </dsp:nvSpPr>
      <dsp:spPr>
        <a:xfrm>
          <a:off x="8082505" y="15517"/>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4562F25B-EA9B-4249-B31A-B9486E52CB0F}">
      <dsp:nvSpPr>
        <dsp:cNvPr id="0" name=""/>
        <dsp:cNvSpPr/>
      </dsp:nvSpPr>
      <dsp:spPr>
        <a:xfrm>
          <a:off x="1" y="4712927"/>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FEAE271F-D66D-4A5C-8121-07947AB6070F}">
      <dsp:nvSpPr>
        <dsp:cNvPr id="0" name=""/>
        <dsp:cNvSpPr/>
      </dsp:nvSpPr>
      <dsp:spPr>
        <a:xfrm>
          <a:off x="1" y="0"/>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5A54366C-8E5A-45E6-AEA6-611A5617E160}">
      <dsp:nvSpPr>
        <dsp:cNvPr id="0" name=""/>
        <dsp:cNvSpPr/>
      </dsp:nvSpPr>
      <dsp:spPr>
        <a:xfrm>
          <a:off x="8146422" y="4712927"/>
          <a:ext cx="294192" cy="294291"/>
        </a:xfrm>
        <a:prstGeom prst="ellipse">
          <a:avLst/>
        </a:prstGeom>
        <a:pattFill prst="pct5">
          <a:fgClr>
            <a:srgbClr val="92D050"/>
          </a:fgClr>
          <a:bgClr>
            <a:schemeClr val="bg1"/>
          </a:bgClr>
        </a:pattFill>
        <a:ln w="10000" cap="flat" cmpd="sng" algn="ctr">
          <a:solidFill>
            <a:schemeClr val="accent1">
              <a:hueOff val="0"/>
              <a:satOff val="0"/>
              <a:lumOff val="0"/>
              <a:alphaOff val="0"/>
            </a:schemeClr>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21CDA2F5-EA7D-4126-AF89-FDE244A1CF80}">
      <dsp:nvSpPr>
        <dsp:cNvPr id="0" name=""/>
        <dsp:cNvSpPr/>
      </dsp:nvSpPr>
      <dsp:spPr>
        <a:xfrm>
          <a:off x="529226" y="630433"/>
          <a:ext cx="7307177" cy="3846374"/>
        </a:xfrm>
        <a:prstGeom prst="rect">
          <a:avLst/>
        </a:prstGeom>
        <a:pattFill prst="pct5">
          <a:fgClr>
            <a:srgbClr val="92D050"/>
          </a:fgClr>
          <a:bgClr>
            <a:srgbClr val="00B050"/>
          </a:bgClr>
        </a:pattFill>
        <a:ln w="10000" cap="flat" cmpd="sng" algn="ctr">
          <a:solidFill>
            <a:srgbClr val="F83C28"/>
          </a:solidFill>
          <a:prstDash val="solid"/>
        </a:ln>
        <a:effectLst>
          <a:outerShdw blurRad="76200" dist="50800" dir="5400000" rotWithShape="0">
            <a:srgbClr val="4E3B3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1066800">
            <a:lnSpc>
              <a:spcPct val="90000"/>
            </a:lnSpc>
            <a:spcBef>
              <a:spcPct val="0"/>
            </a:spcBef>
            <a:spcAft>
              <a:spcPct val="35000"/>
            </a:spcAft>
            <a:buNone/>
          </a:pPr>
          <a:r>
            <a:rPr lang="en-US" sz="2400" b="1" i="1" kern="1200" dirty="0">
              <a:solidFill>
                <a:schemeClr val="bg1"/>
              </a:solidFill>
            </a:rPr>
            <a:t>This project explores malaria prevalence in Nigeria integrating Geospatial data, Demographic, and Machine Learning insights to inform targeted interventions and resource allocation. Built classification models to predict risk categories, support evidence-based decision-making for malaria control strategies in Nigeria.  </a:t>
          </a:r>
          <a:endParaRPr lang="en-US" sz="2400" b="1" kern="1200" dirty="0">
            <a:solidFill>
              <a:schemeClr val="bg1"/>
            </a:solidFill>
          </a:endParaRPr>
        </a:p>
      </dsp:txBody>
      <dsp:txXfrm>
        <a:off x="529226" y="630433"/>
        <a:ext cx="7307177" cy="3846374"/>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12/04/2025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
              <a:schemeClr val="accent3">
                <a:lumMod val="60000"/>
                <a:lumOff val="40000"/>
                <a:alpha val="49000"/>
              </a:schemeClr>
            </a:gs>
            <a:gs pos="39999">
              <a:srgbClr val="85C2FF"/>
            </a:gs>
            <a:gs pos="70000">
              <a:srgbClr val="C4D6EB"/>
            </a:gs>
            <a:gs pos="100000">
              <a:srgbClr val="FFEBFA"/>
            </a:gs>
          </a:gsLst>
          <a:lin ang="108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12/04/2025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ata.humdata.org/"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pmc.ncbi.nlm.nih.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0000">
              <a:schemeClr val="accent3">
                <a:lumMod val="60000"/>
                <a:lumOff val="40000"/>
                <a:alpha val="49000"/>
              </a:schemeClr>
            </a:gs>
            <a:gs pos="39999">
              <a:srgbClr val="85C2FF"/>
            </a:gs>
            <a:gs pos="70000">
              <a:srgbClr val="C4D6EB"/>
            </a:gs>
            <a:gs pos="100000">
              <a:srgbClr val="FFEBFA"/>
            </a:gs>
          </a:gsLst>
          <a:lin ang="10800000" scaled="0"/>
          <a:tileRect/>
        </a:gra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8DCCC24-C778-629C-E33D-2B7709F4C14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0"/>
            <a:ext cx="9144000" cy="6922093"/>
          </a:xfrm>
          <a:prstGeom prst="rect">
            <a:avLst/>
          </a:prstGeom>
          <a:pattFill prst="pct5">
            <a:fgClr>
              <a:srgbClr val="92D050"/>
            </a:fgClr>
            <a:bgClr>
              <a:schemeClr val="bg1"/>
            </a:bgClr>
          </a:pattFill>
        </p:spPr>
      </p:pic>
      <p:sp>
        <p:nvSpPr>
          <p:cNvPr id="2" name="Title 1"/>
          <p:cNvSpPr>
            <a:spLocks noGrp="1"/>
          </p:cNvSpPr>
          <p:nvPr>
            <p:ph type="ctrTitle"/>
          </p:nvPr>
        </p:nvSpPr>
        <p:spPr>
          <a:xfrm>
            <a:off x="511698" y="1727924"/>
            <a:ext cx="8077874" cy="887268"/>
          </a:xfrm>
        </p:spPr>
        <p:txBody>
          <a:bodyPr>
            <a:normAutofit fontScale="90000"/>
          </a:bodyPr>
          <a:lstStyle/>
          <a:p>
            <a:pPr algn="l"/>
            <a:br>
              <a:rPr lang="en-US" sz="3600" b="1" dirty="0">
                <a:latin typeface="Arial" pitchFamily="34" charset="0"/>
                <a:cs typeface="Arial" pitchFamily="34" charset="0"/>
              </a:rPr>
            </a:br>
            <a:r>
              <a:rPr lang="en-US" sz="3100" b="1" dirty="0">
                <a:latin typeface="Arial" pitchFamily="34" charset="0"/>
                <a:cs typeface="Arial" pitchFamily="34" charset="0"/>
              </a:rPr>
              <a:t>Hotspots Analysis of </a:t>
            </a:r>
            <a:r>
              <a:rPr sz="3100" b="1" dirty="0">
                <a:latin typeface="Arial" pitchFamily="34" charset="0"/>
                <a:cs typeface="Arial" pitchFamily="34" charset="0"/>
              </a:rPr>
              <a:t>Malaria Prevalence</a:t>
            </a:r>
            <a:r>
              <a:rPr lang="en-US" sz="3100" b="1" dirty="0">
                <a:latin typeface="Arial" pitchFamily="34" charset="0"/>
                <a:cs typeface="Arial" pitchFamily="34" charset="0"/>
              </a:rPr>
              <a:t>.</a:t>
            </a:r>
            <a:br>
              <a:rPr lang="en-US" sz="3100" b="1" dirty="0">
                <a:latin typeface="Arial" pitchFamily="34" charset="0"/>
                <a:cs typeface="Arial" pitchFamily="34" charset="0"/>
              </a:rPr>
            </a:br>
            <a:r>
              <a:rPr lang="en-US" sz="2000" b="1" dirty="0">
                <a:latin typeface="Arial" pitchFamily="34" charset="0"/>
                <a:cs typeface="Arial" pitchFamily="34" charset="0"/>
              </a:rPr>
              <a:t>(use case: Nigeria)</a:t>
            </a:r>
            <a:br>
              <a:rPr lang="en-US" b="1" dirty="0">
                <a:latin typeface="Arial" pitchFamily="34" charset="0"/>
                <a:cs typeface="Arial" pitchFamily="34" charset="0"/>
              </a:rPr>
            </a:br>
            <a:endParaRPr b="1" dirty="0">
              <a:latin typeface="Arial" pitchFamily="34" charset="0"/>
              <a:cs typeface="Arial" pitchFamily="34" charset="0"/>
            </a:endParaRPr>
          </a:p>
        </p:txBody>
      </p:sp>
      <p:sp>
        <p:nvSpPr>
          <p:cNvPr id="3" name="Subtitle 2"/>
          <p:cNvSpPr>
            <a:spLocks noGrp="1"/>
          </p:cNvSpPr>
          <p:nvPr>
            <p:ph type="subTitle" idx="1"/>
          </p:nvPr>
        </p:nvSpPr>
        <p:spPr>
          <a:xfrm>
            <a:off x="1066800" y="4359391"/>
            <a:ext cx="7073899" cy="887268"/>
          </a:xfrm>
        </p:spPr>
        <p:txBody>
          <a:bodyPr>
            <a:normAutofit fontScale="85000" lnSpcReduction="20000"/>
          </a:bodyPr>
          <a:lstStyle/>
          <a:p>
            <a:r>
              <a:rPr dirty="0"/>
              <a:t>Geospatial and Machine Learning </a:t>
            </a:r>
            <a:endParaRPr lang="en-US" dirty="0"/>
          </a:p>
          <a:p>
            <a:r>
              <a:rPr dirty="0"/>
              <a:t>Approach</a:t>
            </a:r>
          </a:p>
        </p:txBody>
      </p:sp>
      <p:graphicFrame>
        <p:nvGraphicFramePr>
          <p:cNvPr id="6" name="Diagram 5">
            <a:extLst>
              <a:ext uri="{FF2B5EF4-FFF2-40B4-BE49-F238E27FC236}">
                <a16:creationId xmlns:a16="http://schemas.microsoft.com/office/drawing/2014/main" id="{2F9A25D7-C040-8CA3-9468-9B312C11DF93}"/>
              </a:ext>
            </a:extLst>
          </p:cNvPr>
          <p:cNvGraphicFramePr/>
          <p:nvPr>
            <p:extLst>
              <p:ext uri="{D42A27DB-BD31-4B8C-83A1-F6EECF244321}">
                <p14:modId xmlns:p14="http://schemas.microsoft.com/office/powerpoint/2010/main" val="885122670"/>
              </p:ext>
            </p:extLst>
          </p:nvPr>
        </p:nvGraphicFramePr>
        <p:xfrm>
          <a:off x="2172262" y="431450"/>
          <a:ext cx="3932730"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401D06DF-4022-4C31-FACE-C8FC5325E288}"/>
              </a:ext>
            </a:extLst>
          </p:cNvPr>
          <p:cNvSpPr txBox="1"/>
          <p:nvPr/>
        </p:nvSpPr>
        <p:spPr>
          <a:xfrm>
            <a:off x="1943099" y="5786438"/>
            <a:ext cx="5972175" cy="707886"/>
          </a:xfrm>
          <a:prstGeom prst="rect">
            <a:avLst/>
          </a:prstGeom>
          <a:noFill/>
        </p:spPr>
        <p:txBody>
          <a:bodyPr wrap="square" rtlCol="0">
            <a:spAutoFit/>
          </a:bodyPr>
          <a:lstStyle/>
          <a:p>
            <a:r>
              <a:rPr lang="en-US" sz="2000" b="1" dirty="0">
                <a:solidFill>
                  <a:srgbClr val="C00000"/>
                </a:solidFill>
              </a:rPr>
              <a:t>Writing by:	 Samuel Ekong (Geospatial Data Science)</a:t>
            </a:r>
          </a:p>
          <a:p>
            <a:r>
              <a:rPr lang="en-US" sz="2000" b="1" dirty="0">
                <a:solidFill>
                  <a:srgbClr val="C00000"/>
                </a:solidFill>
              </a:rPr>
              <a:t>				GDS_FE/23/89939683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rgbClr val="92D050"/>
          </a:fgClr>
          <a:bgClr>
            <a:schemeClr val="bg1"/>
          </a:bgClr>
        </a:pattFill>
        <a:effectLst/>
      </p:bgPr>
    </p:bg>
    <p:spTree>
      <p:nvGrpSpPr>
        <p:cNvPr id="1" name=""/>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C6263D68-541C-BBE7-F06F-67196DCD19C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65200" y="42948"/>
            <a:ext cx="2070100" cy="1606379"/>
          </a:xfrm>
          <a:prstGeom prst="rect">
            <a:avLst/>
          </a:prstGeom>
        </p:spPr>
      </p:pic>
      <p:sp>
        <p:nvSpPr>
          <p:cNvPr id="2" name="Title 1"/>
          <p:cNvSpPr>
            <a:spLocks noGrp="1"/>
          </p:cNvSpPr>
          <p:nvPr>
            <p:ph type="title"/>
          </p:nvPr>
        </p:nvSpPr>
        <p:spPr/>
        <p:txBody>
          <a:bodyPr/>
          <a:lstStyle/>
          <a:p>
            <a:r>
              <a:rPr b="1" dirty="0">
                <a:solidFill>
                  <a:srgbClr val="FF0000"/>
                </a:solidFill>
              </a:rPr>
              <a:t>Abstract</a:t>
            </a:r>
          </a:p>
        </p:txBody>
      </p:sp>
      <p:graphicFrame>
        <p:nvGraphicFramePr>
          <p:cNvPr id="4" name="Content Placeholder 3">
            <a:extLst>
              <a:ext uri="{FF2B5EF4-FFF2-40B4-BE49-F238E27FC236}">
                <a16:creationId xmlns:a16="http://schemas.microsoft.com/office/drawing/2014/main" id="{8B008CC3-C389-6A8E-A32D-D0374E21B50F}"/>
              </a:ext>
            </a:extLst>
          </p:cNvPr>
          <p:cNvGraphicFramePr>
            <a:graphicFrameLocks noGrp="1"/>
          </p:cNvGraphicFramePr>
          <p:nvPr>
            <p:ph idx="1"/>
            <p:extLst>
              <p:ext uri="{D42A27DB-BD31-4B8C-83A1-F6EECF244321}">
                <p14:modId xmlns:p14="http://schemas.microsoft.com/office/powerpoint/2010/main" val="1200171028"/>
              </p:ext>
            </p:extLst>
          </p:nvPr>
        </p:nvGraphicFramePr>
        <p:xfrm>
          <a:off x="457200" y="1107831"/>
          <a:ext cx="8440615" cy="5007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rgbClr val="92D050"/>
          </a:fgClr>
          <a:bgClr>
            <a:schemeClr val="bg1"/>
          </a:bgClr>
        </a:pattFill>
        <a:effectLst/>
      </p:bgPr>
    </p:bg>
    <p:spTree>
      <p:nvGrpSpPr>
        <p:cNvPr id="1" name=""/>
        <p:cNvGrpSpPr/>
        <p:nvPr/>
      </p:nvGrpSpPr>
      <p:grpSpPr>
        <a:xfrm>
          <a:off x="0" y="0"/>
          <a:ext cx="0" cy="0"/>
          <a:chOff x="0" y="0"/>
          <a:chExt cx="0" cy="0"/>
        </a:xfrm>
      </p:grpSpPr>
      <p:pic>
        <p:nvPicPr>
          <p:cNvPr id="9" name="Content Placeholder 4">
            <a:extLst>
              <a:ext uri="{FF2B5EF4-FFF2-40B4-BE49-F238E27FC236}">
                <a16:creationId xmlns:a16="http://schemas.microsoft.com/office/drawing/2014/main" id="{9D85AFDD-765A-A946-25C2-872993A4524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62770" y="36248"/>
            <a:ext cx="1766130" cy="1320799"/>
          </a:xfrm>
          <a:prstGeom prst="rect">
            <a:avLst/>
          </a:prstGeom>
        </p:spPr>
      </p:pic>
      <p:sp>
        <p:nvSpPr>
          <p:cNvPr id="4" name="Rounded Rectangle 3"/>
          <p:cNvSpPr/>
          <p:nvPr/>
        </p:nvSpPr>
        <p:spPr>
          <a:xfrm>
            <a:off x="457200" y="1417638"/>
            <a:ext cx="8229600" cy="4860070"/>
          </a:xfrm>
          <a:prstGeom prst="roundRect">
            <a:avLst/>
          </a:prstGeom>
          <a:pattFill prst="pct5">
            <a:fgClr>
              <a:srgbClr val="92D050"/>
            </a:fgClr>
            <a:bgClr>
              <a:schemeClr val="bg1"/>
            </a:bgClr>
          </a:pattFill>
          <a:ln>
            <a:solidFill>
              <a:srgbClr val="FA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b="1" dirty="0">
                <a:solidFill>
                  <a:srgbClr val="FF0000"/>
                </a:solidFill>
              </a:rPr>
              <a:t>Introduction</a:t>
            </a:r>
          </a:p>
        </p:txBody>
      </p:sp>
      <p:sp>
        <p:nvSpPr>
          <p:cNvPr id="3" name="Content Placeholder 2"/>
          <p:cNvSpPr>
            <a:spLocks noGrp="1"/>
          </p:cNvSpPr>
          <p:nvPr>
            <p:ph idx="1"/>
          </p:nvPr>
        </p:nvSpPr>
        <p:spPr>
          <a:xfrm>
            <a:off x="703384" y="1913366"/>
            <a:ext cx="7719647" cy="3868614"/>
          </a:xfrm>
          <a:pattFill prst="pct5">
            <a:fgClr>
              <a:srgbClr val="92D050"/>
            </a:fgClr>
            <a:bgClr>
              <a:srgbClr val="00B050"/>
            </a:bgClr>
          </a:pattFill>
        </p:spPr>
        <p:txBody>
          <a:bodyPr>
            <a:noAutofit/>
          </a:bodyPr>
          <a:lstStyle/>
          <a:p>
            <a:pPr>
              <a:buFont typeface="Wingdings" panose="05000000000000000000" pitchFamily="2" charset="2"/>
              <a:buChar char="v"/>
            </a:pPr>
            <a:r>
              <a:rPr sz="2700" b="1" i="1" dirty="0">
                <a:solidFill>
                  <a:schemeClr val="bg1"/>
                </a:solidFill>
              </a:rPr>
              <a:t>Malaria is a pressing public health </a:t>
            </a:r>
            <a:r>
              <a:rPr sz="2700" b="1" i="1" dirty="0">
                <a:solidFill>
                  <a:schemeClr val="bg1"/>
                </a:solidFill>
                <a:latin typeface="+mj-lt"/>
              </a:rPr>
              <a:t>challenge</a:t>
            </a:r>
            <a:r>
              <a:rPr sz="2700" b="1" i="1" dirty="0">
                <a:solidFill>
                  <a:schemeClr val="bg1"/>
                </a:solidFill>
              </a:rPr>
              <a:t> in Nigeria, driven by climate and demographic factors</a:t>
            </a:r>
            <a:r>
              <a:rPr lang="en-US" sz="2700" b="1" i="1" dirty="0">
                <a:solidFill>
                  <a:schemeClr val="bg1"/>
                </a:solidFill>
              </a:rPr>
              <a:t> which leads to certain regions experiencing disproportionately high prevalence rates, underscoring the need for targeted and data-driven approach to effectively control and eliminate this disease.</a:t>
            </a:r>
          </a:p>
        </p:txBody>
      </p:sp>
      <p:sp>
        <p:nvSpPr>
          <p:cNvPr id="5" name="Oval 4"/>
          <p:cNvSpPr/>
          <p:nvPr/>
        </p:nvSpPr>
        <p:spPr>
          <a:xfrm>
            <a:off x="307365" y="27463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Oval 5"/>
          <p:cNvSpPr/>
          <p:nvPr/>
        </p:nvSpPr>
        <p:spPr>
          <a:xfrm>
            <a:off x="307365" y="627770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Oval 6"/>
          <p:cNvSpPr/>
          <p:nvPr/>
        </p:nvSpPr>
        <p:spPr>
          <a:xfrm>
            <a:off x="8572866" y="27463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p:cNvSpPr/>
          <p:nvPr/>
        </p:nvSpPr>
        <p:spPr>
          <a:xfrm>
            <a:off x="8536965" y="627770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75">
          <a:fgClr>
            <a:srgbClr val="92D050"/>
          </a:fgClr>
          <a:bgClr>
            <a:schemeClr val="bg1"/>
          </a:bgClr>
        </a:pattFill>
        <a:effectLst/>
      </p:bgPr>
    </p:bg>
    <p:spTree>
      <p:nvGrpSpPr>
        <p:cNvPr id="1" name=""/>
        <p:cNvGrpSpPr/>
        <p:nvPr/>
      </p:nvGrpSpPr>
      <p:grpSpPr>
        <a:xfrm>
          <a:off x="0" y="0"/>
          <a:ext cx="0" cy="0"/>
          <a:chOff x="0" y="0"/>
          <a:chExt cx="0" cy="0"/>
        </a:xfrm>
      </p:grpSpPr>
      <p:pic>
        <p:nvPicPr>
          <p:cNvPr id="11" name="Content Placeholder 4">
            <a:extLst>
              <a:ext uri="{FF2B5EF4-FFF2-40B4-BE49-F238E27FC236}">
                <a16:creationId xmlns:a16="http://schemas.microsoft.com/office/drawing/2014/main" id="{23019CFA-83D6-C8FD-0B10-FE59DEEB859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 y="5961990"/>
            <a:ext cx="9143999" cy="896009"/>
          </a:xfrm>
          <a:prstGeom prst="rect">
            <a:avLst/>
          </a:prstGeom>
        </p:spPr>
      </p:pic>
      <p:sp>
        <p:nvSpPr>
          <p:cNvPr id="4" name="Round Diagonal Corner Rectangle 3"/>
          <p:cNvSpPr/>
          <p:nvPr/>
        </p:nvSpPr>
        <p:spPr>
          <a:xfrm>
            <a:off x="457201" y="1628775"/>
            <a:ext cx="8229600" cy="4271963"/>
          </a:xfrm>
          <a:prstGeom prst="round2DiagRect">
            <a:avLst/>
          </a:prstGeom>
          <a:pattFill prst="pct5">
            <a:fgClr>
              <a:srgbClr val="92D050"/>
            </a:fgClr>
            <a:bgClr>
              <a:srgbClr val="00B050"/>
            </a:bgClr>
          </a:pattFill>
          <a:ln>
            <a:solidFill>
              <a:srgbClr val="F83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b="1" dirty="0">
                <a:solidFill>
                  <a:srgbClr val="FF0000"/>
                </a:solidFill>
              </a:rPr>
              <a:t>Aim &amp; Objectives</a:t>
            </a:r>
          </a:p>
        </p:txBody>
      </p:sp>
      <p:sp>
        <p:nvSpPr>
          <p:cNvPr id="3" name="Content Placeholder 2"/>
          <p:cNvSpPr>
            <a:spLocks noGrp="1"/>
          </p:cNvSpPr>
          <p:nvPr>
            <p:ph idx="1"/>
          </p:nvPr>
        </p:nvSpPr>
        <p:spPr>
          <a:xfrm>
            <a:off x="457201" y="2486025"/>
            <a:ext cx="8229600" cy="2551014"/>
          </a:xfrm>
        </p:spPr>
        <p:txBody>
          <a:bodyPr>
            <a:normAutofit fontScale="92500" lnSpcReduction="20000"/>
          </a:bodyPr>
          <a:lstStyle/>
          <a:p>
            <a:pPr>
              <a:buFont typeface="Wingdings" panose="05000000000000000000" pitchFamily="2" charset="2"/>
              <a:buChar char="v"/>
            </a:pPr>
            <a:r>
              <a:rPr lang="en-US" sz="2800" b="1" i="1" dirty="0">
                <a:solidFill>
                  <a:schemeClr val="bg1"/>
                </a:solidFill>
              </a:rPr>
              <a:t>To identify</a:t>
            </a:r>
            <a:r>
              <a:rPr sz="2800" b="1" i="1" dirty="0">
                <a:solidFill>
                  <a:schemeClr val="bg1"/>
                </a:solidFill>
              </a:rPr>
              <a:t> hotspots, analyze</a:t>
            </a:r>
            <a:r>
              <a:rPr lang="en-US" sz="2800" b="1" i="1" dirty="0">
                <a:solidFill>
                  <a:schemeClr val="bg1"/>
                </a:solidFill>
              </a:rPr>
              <a:t> malaria prevalence and </a:t>
            </a:r>
            <a:r>
              <a:rPr sz="2800" b="1" i="1" dirty="0">
                <a:solidFill>
                  <a:schemeClr val="bg1"/>
                </a:solidFill>
              </a:rPr>
              <a:t> </a:t>
            </a:r>
            <a:r>
              <a:rPr sz="2800" b="1" i="1" dirty="0" err="1">
                <a:solidFill>
                  <a:schemeClr val="bg1"/>
                </a:solidFill>
              </a:rPr>
              <a:t>correlat</a:t>
            </a:r>
            <a:r>
              <a:rPr lang="en-US" sz="2800" b="1" i="1" dirty="0" err="1">
                <a:solidFill>
                  <a:schemeClr val="bg1"/>
                </a:solidFill>
              </a:rPr>
              <a:t>ted</a:t>
            </a:r>
            <a:r>
              <a:rPr lang="en-US" sz="2800" b="1" i="1" dirty="0">
                <a:solidFill>
                  <a:schemeClr val="bg1"/>
                </a:solidFill>
              </a:rPr>
              <a:t> variables across Nigeria</a:t>
            </a:r>
            <a:r>
              <a:rPr sz="2800" b="1" i="1" dirty="0">
                <a:solidFill>
                  <a:schemeClr val="bg1"/>
                </a:solidFill>
              </a:rPr>
              <a:t>, </a:t>
            </a:r>
            <a:r>
              <a:rPr lang="en-US" sz="2800" b="1" i="1" dirty="0">
                <a:solidFill>
                  <a:schemeClr val="bg1"/>
                </a:solidFill>
              </a:rPr>
              <a:t>leveraging</a:t>
            </a:r>
            <a:r>
              <a:rPr sz="2800" b="1" i="1" dirty="0">
                <a:solidFill>
                  <a:schemeClr val="bg1"/>
                </a:solidFill>
              </a:rPr>
              <a:t> </a:t>
            </a:r>
            <a:r>
              <a:rPr lang="en-US" sz="2800" b="1" i="1" dirty="0">
                <a:solidFill>
                  <a:schemeClr val="bg1"/>
                </a:solidFill>
              </a:rPr>
              <a:t>geo</a:t>
            </a:r>
            <a:r>
              <a:rPr sz="2800" b="1" i="1" dirty="0">
                <a:solidFill>
                  <a:schemeClr val="bg1"/>
                </a:solidFill>
              </a:rPr>
              <a:t>spatial insights </a:t>
            </a:r>
            <a:r>
              <a:rPr lang="en-US" sz="2800" b="1" i="1" dirty="0">
                <a:solidFill>
                  <a:schemeClr val="bg1"/>
                </a:solidFill>
              </a:rPr>
              <a:t>to inform</a:t>
            </a:r>
            <a:r>
              <a:rPr sz="2800" b="1" i="1" dirty="0">
                <a:solidFill>
                  <a:schemeClr val="bg1"/>
                </a:solidFill>
              </a:rPr>
              <a:t> </a:t>
            </a:r>
            <a:r>
              <a:rPr lang="en-US" sz="2800" b="1" i="1" dirty="0">
                <a:solidFill>
                  <a:schemeClr val="bg1"/>
                </a:solidFill>
              </a:rPr>
              <a:t>targeted </a:t>
            </a:r>
            <a:r>
              <a:rPr sz="2900" b="1" i="1" dirty="0">
                <a:solidFill>
                  <a:schemeClr val="bg1"/>
                </a:solidFill>
              </a:rPr>
              <a:t>interventions</a:t>
            </a:r>
            <a:r>
              <a:rPr lang="en-US" sz="2800" b="1" i="1" dirty="0">
                <a:solidFill>
                  <a:schemeClr val="bg1"/>
                </a:solidFill>
              </a:rPr>
              <a:t> and resource allocation.</a:t>
            </a:r>
          </a:p>
          <a:p>
            <a:pPr>
              <a:buFont typeface="Wingdings" panose="05000000000000000000" pitchFamily="2" charset="2"/>
              <a:buChar char="v"/>
            </a:pPr>
            <a:r>
              <a:rPr lang="en-US" sz="2800" b="1" i="1" dirty="0">
                <a:solidFill>
                  <a:schemeClr val="bg1"/>
                </a:solidFill>
              </a:rPr>
              <a:t> To map high risk areas, factors contributing to malaria transmission, seeks to support evidence-based decision-making for malaria control strategies in Nigeria.</a:t>
            </a:r>
          </a:p>
        </p:txBody>
      </p:sp>
      <p:sp>
        <p:nvSpPr>
          <p:cNvPr id="5" name="Oval 4"/>
          <p:cNvSpPr/>
          <p:nvPr/>
        </p:nvSpPr>
        <p:spPr>
          <a:xfrm>
            <a:off x="7415580" y="1267752"/>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Oval 5"/>
          <p:cNvSpPr/>
          <p:nvPr/>
        </p:nvSpPr>
        <p:spPr>
          <a:xfrm>
            <a:off x="1386255" y="590073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Oval 6"/>
          <p:cNvSpPr/>
          <p:nvPr/>
        </p:nvSpPr>
        <p:spPr>
          <a:xfrm>
            <a:off x="906705" y="590073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p:cNvSpPr/>
          <p:nvPr/>
        </p:nvSpPr>
        <p:spPr>
          <a:xfrm>
            <a:off x="457200" y="590073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Oval 8"/>
          <p:cNvSpPr/>
          <p:nvPr/>
        </p:nvSpPr>
        <p:spPr>
          <a:xfrm>
            <a:off x="8387131" y="1267752"/>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Oval 9"/>
          <p:cNvSpPr/>
          <p:nvPr/>
        </p:nvSpPr>
        <p:spPr>
          <a:xfrm>
            <a:off x="7894028" y="1267752"/>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75">
          <a:fgClr>
            <a:srgbClr val="92D050"/>
          </a:fgClr>
          <a:bgClr>
            <a:schemeClr val="bg1"/>
          </a:bgClr>
        </a:pattFill>
        <a:effectLst/>
      </p:bgPr>
    </p:bg>
    <p:spTree>
      <p:nvGrpSpPr>
        <p:cNvPr id="1" name=""/>
        <p:cNvGrpSpPr/>
        <p:nvPr/>
      </p:nvGrpSpPr>
      <p:grpSpPr>
        <a:xfrm>
          <a:off x="0" y="0"/>
          <a:ext cx="0" cy="0"/>
          <a:chOff x="0" y="0"/>
          <a:chExt cx="0" cy="0"/>
        </a:xfrm>
      </p:grpSpPr>
      <p:sp>
        <p:nvSpPr>
          <p:cNvPr id="4" name="Snip Same Side Corner Rectangle 3"/>
          <p:cNvSpPr/>
          <p:nvPr/>
        </p:nvSpPr>
        <p:spPr>
          <a:xfrm>
            <a:off x="808892" y="1600200"/>
            <a:ext cx="7877908" cy="4044462"/>
          </a:xfrm>
          <a:prstGeom prst="snip2SameRect">
            <a:avLst/>
          </a:prstGeom>
          <a:pattFill prst="pct5">
            <a:fgClr>
              <a:srgbClr val="92D050"/>
            </a:fgClr>
            <a:bgClr>
              <a:srgbClr val="00B050"/>
            </a:bgClr>
          </a:patt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819828"/>
            <a:ext cx="8229600" cy="618896"/>
          </a:xfrm>
        </p:spPr>
        <p:txBody>
          <a:bodyPr>
            <a:normAutofit fontScale="90000"/>
          </a:bodyPr>
          <a:lstStyle/>
          <a:p>
            <a:r>
              <a:rPr b="1" dirty="0">
                <a:solidFill>
                  <a:srgbClr val="FF0000"/>
                </a:solidFill>
              </a:rPr>
              <a:t>Methodology</a:t>
            </a:r>
          </a:p>
        </p:txBody>
      </p:sp>
      <p:sp>
        <p:nvSpPr>
          <p:cNvPr id="3" name="Content Placeholder 2"/>
          <p:cNvSpPr>
            <a:spLocks noGrp="1"/>
          </p:cNvSpPr>
          <p:nvPr>
            <p:ph idx="1"/>
          </p:nvPr>
        </p:nvSpPr>
        <p:spPr>
          <a:xfrm>
            <a:off x="1019908" y="2058183"/>
            <a:ext cx="7367954" cy="3140319"/>
          </a:xfrm>
        </p:spPr>
        <p:txBody>
          <a:bodyPr>
            <a:noAutofit/>
          </a:bodyPr>
          <a:lstStyle/>
          <a:p>
            <a:pPr>
              <a:buFont typeface="Wingdings" panose="05000000000000000000" pitchFamily="2" charset="2"/>
              <a:buChar char="v"/>
            </a:pPr>
            <a:r>
              <a:rPr lang="en-US" sz="2400" b="1" i="1" dirty="0">
                <a:solidFill>
                  <a:schemeClr val="bg1"/>
                </a:solidFill>
              </a:rPr>
              <a:t>This project will employ a retrospective  spatial analysis of malaria survey data.</a:t>
            </a:r>
          </a:p>
          <a:p>
            <a:pPr>
              <a:buFont typeface="Wingdings" panose="05000000000000000000" pitchFamily="2" charset="2"/>
              <a:buChar char="v"/>
            </a:pPr>
            <a:r>
              <a:rPr lang="en-US" sz="2400" b="1" i="1" dirty="0">
                <a:solidFill>
                  <a:schemeClr val="bg1"/>
                </a:solidFill>
              </a:rPr>
              <a:t>D</a:t>
            </a:r>
            <a:r>
              <a:rPr sz="2400" b="1" i="1" dirty="0">
                <a:solidFill>
                  <a:schemeClr val="bg1"/>
                </a:solidFill>
              </a:rPr>
              <a:t>ata collection, </a:t>
            </a:r>
            <a:r>
              <a:rPr lang="en-US" sz="2400" b="1" i="1" dirty="0">
                <a:solidFill>
                  <a:schemeClr val="bg1"/>
                </a:solidFill>
              </a:rPr>
              <a:t>P</a:t>
            </a:r>
            <a:r>
              <a:rPr sz="2400" b="1" i="1" dirty="0">
                <a:solidFill>
                  <a:schemeClr val="bg1"/>
                </a:solidFill>
              </a:rPr>
              <a:t>reprocessing, </a:t>
            </a:r>
            <a:r>
              <a:rPr lang="en-US" sz="2400" b="1" i="1" dirty="0">
                <a:solidFill>
                  <a:schemeClr val="bg1"/>
                </a:solidFill>
              </a:rPr>
              <a:t>Exploratory/Spatial Data Analysis combining it with environmental, demographic to identify hotspots.</a:t>
            </a:r>
          </a:p>
          <a:p>
            <a:pPr>
              <a:buFont typeface="Wingdings" panose="05000000000000000000" pitchFamily="2" charset="2"/>
              <a:buChar char="v"/>
            </a:pPr>
            <a:r>
              <a:rPr lang="en-US" sz="2400" b="1" i="1" dirty="0">
                <a:solidFill>
                  <a:schemeClr val="bg1"/>
                </a:solidFill>
              </a:rPr>
              <a:t> Model build to accurately predict statistically significant cases of malaria prevalence among other variables.</a:t>
            </a:r>
            <a:endParaRPr sz="2400" b="1" i="1" dirty="0">
              <a:solidFill>
                <a:schemeClr val="bg1"/>
              </a:solidFill>
            </a:endParaRPr>
          </a:p>
        </p:txBody>
      </p:sp>
      <p:sp>
        <p:nvSpPr>
          <p:cNvPr id="5" name="Oval 4">
            <a:extLst>
              <a:ext uri="{FF2B5EF4-FFF2-40B4-BE49-F238E27FC236}">
                <a16:creationId xmlns:a16="http://schemas.microsoft.com/office/drawing/2014/main" id="{9156B2CC-9A68-0E44-5D6B-A3F549D9B5F3}"/>
              </a:ext>
            </a:extLst>
          </p:cNvPr>
          <p:cNvSpPr/>
          <p:nvPr/>
        </p:nvSpPr>
        <p:spPr>
          <a:xfrm>
            <a:off x="8646868" y="1925515"/>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Oval 5">
            <a:extLst>
              <a:ext uri="{FF2B5EF4-FFF2-40B4-BE49-F238E27FC236}">
                <a16:creationId xmlns:a16="http://schemas.microsoft.com/office/drawing/2014/main" id="{4ED4B4BA-FBE4-4D2A-058C-12524A28C911}"/>
              </a:ext>
            </a:extLst>
          </p:cNvPr>
          <p:cNvSpPr/>
          <p:nvPr/>
        </p:nvSpPr>
        <p:spPr>
          <a:xfrm>
            <a:off x="1125782" y="1325973"/>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Oval 6">
            <a:extLst>
              <a:ext uri="{FF2B5EF4-FFF2-40B4-BE49-F238E27FC236}">
                <a16:creationId xmlns:a16="http://schemas.microsoft.com/office/drawing/2014/main" id="{0C32E259-2B09-CD19-2018-A5346A87CCEF}"/>
              </a:ext>
            </a:extLst>
          </p:cNvPr>
          <p:cNvSpPr/>
          <p:nvPr/>
        </p:nvSpPr>
        <p:spPr>
          <a:xfrm>
            <a:off x="808892" y="1625744"/>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a:extLst>
              <a:ext uri="{FF2B5EF4-FFF2-40B4-BE49-F238E27FC236}">
                <a16:creationId xmlns:a16="http://schemas.microsoft.com/office/drawing/2014/main" id="{593AFD1E-610E-6B1E-002F-38FACC025C6A}"/>
              </a:ext>
            </a:extLst>
          </p:cNvPr>
          <p:cNvSpPr/>
          <p:nvPr/>
        </p:nvSpPr>
        <p:spPr>
          <a:xfrm>
            <a:off x="509222" y="1903169"/>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Oval 8">
            <a:extLst>
              <a:ext uri="{FF2B5EF4-FFF2-40B4-BE49-F238E27FC236}">
                <a16:creationId xmlns:a16="http://schemas.microsoft.com/office/drawing/2014/main" id="{530D7546-198B-B575-F8A7-36BB50583597}"/>
              </a:ext>
            </a:extLst>
          </p:cNvPr>
          <p:cNvSpPr/>
          <p:nvPr/>
        </p:nvSpPr>
        <p:spPr>
          <a:xfrm>
            <a:off x="8396655" y="1625744"/>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Oval 9">
            <a:extLst>
              <a:ext uri="{FF2B5EF4-FFF2-40B4-BE49-F238E27FC236}">
                <a16:creationId xmlns:a16="http://schemas.microsoft.com/office/drawing/2014/main" id="{6E3A2CBB-763E-FBC8-9868-AB90E29E6FDE}"/>
              </a:ext>
            </a:extLst>
          </p:cNvPr>
          <p:cNvSpPr/>
          <p:nvPr/>
        </p:nvSpPr>
        <p:spPr>
          <a:xfrm>
            <a:off x="8088192" y="130968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1" name="Oval 10">
            <a:extLst>
              <a:ext uri="{FF2B5EF4-FFF2-40B4-BE49-F238E27FC236}">
                <a16:creationId xmlns:a16="http://schemas.microsoft.com/office/drawing/2014/main" id="{1130A75B-0E49-ABFC-7486-84A1219E6366}"/>
              </a:ext>
            </a:extLst>
          </p:cNvPr>
          <p:cNvSpPr/>
          <p:nvPr/>
        </p:nvSpPr>
        <p:spPr>
          <a:xfrm>
            <a:off x="1275617" y="5827223"/>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2" name="Oval 11">
            <a:extLst>
              <a:ext uri="{FF2B5EF4-FFF2-40B4-BE49-F238E27FC236}">
                <a16:creationId xmlns:a16="http://schemas.microsoft.com/office/drawing/2014/main" id="{24D6BDAB-9004-4DC5-62D7-4544D405C470}"/>
              </a:ext>
            </a:extLst>
          </p:cNvPr>
          <p:cNvSpPr/>
          <p:nvPr/>
        </p:nvSpPr>
        <p:spPr>
          <a:xfrm>
            <a:off x="6713477" y="5827224"/>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Oval 12">
            <a:extLst>
              <a:ext uri="{FF2B5EF4-FFF2-40B4-BE49-F238E27FC236}">
                <a16:creationId xmlns:a16="http://schemas.microsoft.com/office/drawing/2014/main" id="{4C2EA313-751C-FAA0-540C-969062761C30}"/>
              </a:ext>
            </a:extLst>
          </p:cNvPr>
          <p:cNvSpPr/>
          <p:nvPr/>
        </p:nvSpPr>
        <p:spPr>
          <a:xfrm>
            <a:off x="7305675" y="5827224"/>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4" name="Oval 13">
            <a:extLst>
              <a:ext uri="{FF2B5EF4-FFF2-40B4-BE49-F238E27FC236}">
                <a16:creationId xmlns:a16="http://schemas.microsoft.com/office/drawing/2014/main" id="{B43C630D-A30C-0BDC-9790-52FCE647E8D8}"/>
              </a:ext>
            </a:extLst>
          </p:cNvPr>
          <p:cNvSpPr/>
          <p:nvPr/>
        </p:nvSpPr>
        <p:spPr>
          <a:xfrm>
            <a:off x="7890732" y="5775214"/>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5" name="Oval 14">
            <a:extLst>
              <a:ext uri="{FF2B5EF4-FFF2-40B4-BE49-F238E27FC236}">
                <a16:creationId xmlns:a16="http://schemas.microsoft.com/office/drawing/2014/main" id="{2B182B6F-8DAB-E454-6E33-6DEED85228B0}"/>
              </a:ext>
            </a:extLst>
          </p:cNvPr>
          <p:cNvSpPr/>
          <p:nvPr/>
        </p:nvSpPr>
        <p:spPr>
          <a:xfrm>
            <a:off x="1845467" y="5836483"/>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Oval 15">
            <a:extLst>
              <a:ext uri="{FF2B5EF4-FFF2-40B4-BE49-F238E27FC236}">
                <a16:creationId xmlns:a16="http://schemas.microsoft.com/office/drawing/2014/main" id="{DE78178B-93E2-0876-651C-0082C6ED36D8}"/>
              </a:ext>
            </a:extLst>
          </p:cNvPr>
          <p:cNvSpPr/>
          <p:nvPr/>
        </p:nvSpPr>
        <p:spPr>
          <a:xfrm>
            <a:off x="2415317" y="5836483"/>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pic>
        <p:nvPicPr>
          <p:cNvPr id="17" name="Content Placeholder 4">
            <a:extLst>
              <a:ext uri="{FF2B5EF4-FFF2-40B4-BE49-F238E27FC236}">
                <a16:creationId xmlns:a16="http://schemas.microsoft.com/office/drawing/2014/main" id="{B7DA894A-CB04-01B3-A7E6-1CCCA60630F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6179"/>
            <a:ext cx="9144000" cy="826007"/>
          </a:xfrm>
          <a:prstGeom prst="rect">
            <a:avLst/>
          </a:prstGeom>
          <a:effectLst>
            <a:outerShdw dist="50800" dir="5400000" algn="ctr" rotWithShape="0">
              <a:srgbClr val="99CC00"/>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horzBrick">
          <a:fgClr>
            <a:srgbClr val="B6DF89"/>
          </a:fgClr>
          <a:bgClr>
            <a:schemeClr val="bg1"/>
          </a:bgClr>
        </a:pattFill>
        <a:effectLst/>
      </p:bgPr>
    </p:bg>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2F0C54D7-ADAD-4E83-1A97-88EB478D82C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42949"/>
            <a:ext cx="1778000" cy="1557250"/>
          </a:xfrm>
          <a:prstGeom prst="rect">
            <a:avLst/>
          </a:prstGeom>
        </p:spPr>
      </p:pic>
      <p:sp>
        <p:nvSpPr>
          <p:cNvPr id="4" name="Flowchart: Document 3">
            <a:extLst>
              <a:ext uri="{FF2B5EF4-FFF2-40B4-BE49-F238E27FC236}">
                <a16:creationId xmlns:a16="http://schemas.microsoft.com/office/drawing/2014/main" id="{A773B7DD-9AF8-F365-5795-1EFB76BF2EF3}"/>
              </a:ext>
            </a:extLst>
          </p:cNvPr>
          <p:cNvSpPr/>
          <p:nvPr/>
        </p:nvSpPr>
        <p:spPr>
          <a:xfrm>
            <a:off x="457200" y="1600198"/>
            <a:ext cx="8229600" cy="4708523"/>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p>
        </p:txBody>
      </p:sp>
      <p:sp>
        <p:nvSpPr>
          <p:cNvPr id="2" name="Title 1"/>
          <p:cNvSpPr>
            <a:spLocks noGrp="1"/>
          </p:cNvSpPr>
          <p:nvPr>
            <p:ph type="title"/>
          </p:nvPr>
        </p:nvSpPr>
        <p:spPr>
          <a:xfrm>
            <a:off x="457200" y="274638"/>
            <a:ext cx="8229600" cy="1050919"/>
          </a:xfrm>
        </p:spPr>
        <p:txBody>
          <a:bodyPr/>
          <a:lstStyle/>
          <a:p>
            <a:r>
              <a:rPr lang="en-US" b="1" dirty="0">
                <a:solidFill>
                  <a:srgbClr val="FF0000"/>
                </a:solidFill>
                <a:latin typeface="+mn-lt"/>
              </a:rPr>
              <a:t>Analysis and Techniques</a:t>
            </a:r>
            <a:endParaRPr b="1" dirty="0">
              <a:solidFill>
                <a:srgbClr val="FF0000"/>
              </a:solidFill>
              <a:latin typeface="+mn-lt"/>
            </a:endParaRPr>
          </a:p>
        </p:txBody>
      </p:sp>
      <p:sp>
        <p:nvSpPr>
          <p:cNvPr id="3" name="Content Placeholder 2"/>
          <p:cNvSpPr>
            <a:spLocks noGrp="1"/>
          </p:cNvSpPr>
          <p:nvPr>
            <p:ph idx="1"/>
          </p:nvPr>
        </p:nvSpPr>
        <p:spPr>
          <a:xfrm>
            <a:off x="457200" y="1600198"/>
            <a:ext cx="8229600" cy="4983164"/>
          </a:xfrm>
          <a:pattFill prst="pct5">
            <a:fgClr>
              <a:srgbClr val="B6DF89"/>
            </a:fgClr>
            <a:bgClr>
              <a:srgbClr val="00B050"/>
            </a:bgClr>
          </a:pattFill>
          <a:ln>
            <a:solidFill>
              <a:srgbClr val="FF0000"/>
            </a:solidFill>
          </a:ln>
        </p:spPr>
        <p:txBody>
          <a:bodyPr>
            <a:normAutofit/>
          </a:bodyPr>
          <a:lstStyle/>
          <a:p>
            <a:pPr marL="0" indent="0">
              <a:buNone/>
            </a:pPr>
            <a:endParaRPr lang="en-US" sz="2000" b="1" i="1" dirty="0">
              <a:solidFill>
                <a:schemeClr val="bg1"/>
              </a:solidFill>
            </a:endParaRPr>
          </a:p>
          <a:p>
            <a:pPr>
              <a:buFont typeface="Wingdings" panose="05000000000000000000" pitchFamily="2" charset="2"/>
              <a:buChar char="v"/>
            </a:pPr>
            <a:endParaRPr lang="en-US" sz="2000" b="1" i="1" dirty="0">
              <a:solidFill>
                <a:schemeClr val="bg1"/>
              </a:solidFill>
            </a:endParaRPr>
          </a:p>
          <a:p>
            <a:pPr>
              <a:buFont typeface="Wingdings" panose="05000000000000000000" pitchFamily="2" charset="2"/>
              <a:buChar char="v"/>
            </a:pPr>
            <a:r>
              <a:rPr lang="en-US" sz="2000" b="1" i="1" dirty="0">
                <a:solidFill>
                  <a:schemeClr val="bg1"/>
                </a:solidFill>
              </a:rPr>
              <a:t>The Analysis involve spatial regression models to examine the relationships between malaria prevalence and potential risk factors.</a:t>
            </a:r>
          </a:p>
          <a:p>
            <a:pPr>
              <a:buFont typeface="Wingdings" panose="05000000000000000000" pitchFamily="2" charset="2"/>
              <a:buChar char="v"/>
            </a:pPr>
            <a:r>
              <a:rPr lang="en-US" sz="2000" b="1" i="1" dirty="0">
                <a:solidFill>
                  <a:schemeClr val="bg1"/>
                </a:solidFill>
              </a:rPr>
              <a:t>Hotspot segmentation, different mapping and visualization at the state level allows policymakers to prioritize interventions effectively.</a:t>
            </a:r>
            <a:endParaRPr lang="en-US" sz="1400" b="1" i="1" dirty="0">
              <a:solidFill>
                <a:schemeClr val="bg1"/>
              </a:solidFill>
            </a:endParaRPr>
          </a:p>
          <a:p>
            <a:pPr marL="0" indent="0">
              <a:buNone/>
            </a:pPr>
            <a:endParaRPr lang="en-US" sz="2000" b="1" i="1" dirty="0">
              <a:solidFill>
                <a:schemeClr val="bg1"/>
              </a:solidFill>
            </a:endParaRPr>
          </a:p>
          <a:p>
            <a:pPr marL="0" indent="0">
              <a:buNone/>
            </a:pPr>
            <a:endParaRPr lang="en-US" sz="2000" b="1" i="1" dirty="0">
              <a:solidFill>
                <a:schemeClr val="bg1"/>
              </a:solidFill>
            </a:endParaRPr>
          </a:p>
          <a:p>
            <a:pPr>
              <a:buFont typeface="Wingdings" panose="05000000000000000000" pitchFamily="2" charset="2"/>
              <a:buChar char="v"/>
            </a:pPr>
            <a:r>
              <a:rPr lang="en-US" sz="2000" b="1" i="1" dirty="0">
                <a:solidFill>
                  <a:schemeClr val="bg1"/>
                </a:solidFill>
              </a:rPr>
              <a:t>Techniques such as spatial interpolation and hotspot analysis applied to visualize and quantify the distribution of malaria cases.</a:t>
            </a:r>
          </a:p>
          <a:p>
            <a:pPr>
              <a:buFont typeface="Wingdings" panose="05000000000000000000" pitchFamily="2" charset="2"/>
              <a:buChar char="v"/>
            </a:pPr>
            <a:r>
              <a:rPr lang="en-US" sz="2000" b="1" i="1" dirty="0">
                <a:solidFill>
                  <a:schemeClr val="bg1"/>
                </a:solidFill>
              </a:rPr>
              <a:t>Histogram of prevalence values.</a:t>
            </a:r>
          </a:p>
          <a:p>
            <a:pPr>
              <a:buFont typeface="Wingdings" panose="05000000000000000000" pitchFamily="2" charset="2"/>
              <a:buChar char="v"/>
            </a:pPr>
            <a:r>
              <a:rPr lang="en-US" sz="2000" b="1" i="1" dirty="0">
                <a:solidFill>
                  <a:schemeClr val="bg1"/>
                </a:solidFill>
              </a:rPr>
              <a:t>Boxplots showing variability among states</a:t>
            </a:r>
            <a:endParaRPr sz="2000" b="1" i="1" dirty="0">
              <a:solidFill>
                <a:schemeClr val="bg1"/>
              </a:solidFill>
            </a:endParaRPr>
          </a:p>
        </p:txBody>
      </p:sp>
      <p:sp>
        <p:nvSpPr>
          <p:cNvPr id="5" name="TextBox 4">
            <a:extLst>
              <a:ext uri="{FF2B5EF4-FFF2-40B4-BE49-F238E27FC236}">
                <a16:creationId xmlns:a16="http://schemas.microsoft.com/office/drawing/2014/main" id="{138615D2-0DE2-8C90-6FB7-8798DE25AB14}"/>
              </a:ext>
            </a:extLst>
          </p:cNvPr>
          <p:cNvSpPr txBox="1"/>
          <p:nvPr/>
        </p:nvSpPr>
        <p:spPr>
          <a:xfrm>
            <a:off x="3131389" y="3863181"/>
            <a:ext cx="1664898" cy="461665"/>
          </a:xfrm>
          <a:prstGeom prst="rect">
            <a:avLst/>
          </a:prstGeom>
          <a:noFill/>
        </p:spPr>
        <p:txBody>
          <a:bodyPr wrap="square" rtlCol="0">
            <a:spAutoFit/>
          </a:bodyPr>
          <a:lstStyle/>
          <a:p>
            <a:r>
              <a:rPr lang="en-US" sz="2400" b="1" i="1" u="sng" dirty="0">
                <a:solidFill>
                  <a:schemeClr val="bg1"/>
                </a:solidFill>
              </a:rPr>
              <a:t>Techniques</a:t>
            </a:r>
            <a:endParaRPr lang="en-US" b="1" i="1" u="sng" dirty="0">
              <a:solidFill>
                <a:schemeClr val="bg1"/>
              </a:solidFill>
            </a:endParaRPr>
          </a:p>
        </p:txBody>
      </p:sp>
      <p:sp>
        <p:nvSpPr>
          <p:cNvPr id="6" name="TextBox 5">
            <a:extLst>
              <a:ext uri="{FF2B5EF4-FFF2-40B4-BE49-F238E27FC236}">
                <a16:creationId xmlns:a16="http://schemas.microsoft.com/office/drawing/2014/main" id="{4C97839D-8F72-32A0-A94F-698FC98BF170}"/>
              </a:ext>
            </a:extLst>
          </p:cNvPr>
          <p:cNvSpPr txBox="1"/>
          <p:nvPr/>
        </p:nvSpPr>
        <p:spPr>
          <a:xfrm>
            <a:off x="2945921" y="1648473"/>
            <a:ext cx="1315528" cy="461665"/>
          </a:xfrm>
          <a:prstGeom prst="rect">
            <a:avLst/>
          </a:prstGeom>
          <a:noFill/>
        </p:spPr>
        <p:txBody>
          <a:bodyPr wrap="square" rtlCol="0">
            <a:spAutoFit/>
          </a:bodyPr>
          <a:lstStyle/>
          <a:p>
            <a:r>
              <a:rPr lang="en-US" sz="2400" b="1" i="1" u="sng" dirty="0">
                <a:solidFill>
                  <a:schemeClr val="bg1"/>
                </a:solidFill>
              </a:rPr>
              <a:t>Analysis</a:t>
            </a:r>
            <a:endParaRPr lang="en-US" b="1" i="1" u="sng" dirty="0">
              <a:solidFill>
                <a:schemeClr val="bg1"/>
              </a:solidFill>
            </a:endParaRPr>
          </a:p>
        </p:txBody>
      </p:sp>
      <p:sp>
        <p:nvSpPr>
          <p:cNvPr id="8" name="Oval 7">
            <a:extLst>
              <a:ext uri="{FF2B5EF4-FFF2-40B4-BE49-F238E27FC236}">
                <a16:creationId xmlns:a16="http://schemas.microsoft.com/office/drawing/2014/main" id="{969705C2-6A8E-C681-A7DE-BA7D3ECA5E13}"/>
              </a:ext>
            </a:extLst>
          </p:cNvPr>
          <p:cNvSpPr/>
          <p:nvPr/>
        </p:nvSpPr>
        <p:spPr>
          <a:xfrm>
            <a:off x="8242779" y="1724953"/>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Oval 8">
            <a:extLst>
              <a:ext uri="{FF2B5EF4-FFF2-40B4-BE49-F238E27FC236}">
                <a16:creationId xmlns:a16="http://schemas.microsoft.com/office/drawing/2014/main" id="{3708642A-ED09-0E5B-0336-380B33A52CF2}"/>
              </a:ext>
            </a:extLst>
          </p:cNvPr>
          <p:cNvSpPr/>
          <p:nvPr/>
        </p:nvSpPr>
        <p:spPr>
          <a:xfrm>
            <a:off x="8242779" y="6158836"/>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Oval 9">
            <a:extLst>
              <a:ext uri="{FF2B5EF4-FFF2-40B4-BE49-F238E27FC236}">
                <a16:creationId xmlns:a16="http://schemas.microsoft.com/office/drawing/2014/main" id="{EF3CA14E-1ADC-ACCD-2CE6-62137F2C9571}"/>
              </a:ext>
            </a:extLst>
          </p:cNvPr>
          <p:cNvSpPr/>
          <p:nvPr/>
        </p:nvSpPr>
        <p:spPr>
          <a:xfrm>
            <a:off x="601551" y="6158836"/>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1" name="Oval 10">
            <a:extLst>
              <a:ext uri="{FF2B5EF4-FFF2-40B4-BE49-F238E27FC236}">
                <a16:creationId xmlns:a16="http://schemas.microsoft.com/office/drawing/2014/main" id="{7EE44AD4-9466-F9CD-2D01-BC5D17D986FD}"/>
              </a:ext>
            </a:extLst>
          </p:cNvPr>
          <p:cNvSpPr/>
          <p:nvPr/>
        </p:nvSpPr>
        <p:spPr>
          <a:xfrm>
            <a:off x="589330" y="1724954"/>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25">
          <a:fgClr>
            <a:srgbClr val="92D050"/>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17516" y="108739"/>
            <a:ext cx="3876676" cy="424659"/>
          </a:xfrm>
        </p:spPr>
        <p:txBody>
          <a:bodyPr>
            <a:noAutofit/>
          </a:bodyPr>
          <a:lstStyle/>
          <a:p>
            <a:r>
              <a:rPr sz="3200" b="1" dirty="0">
                <a:solidFill>
                  <a:srgbClr val="FF0000"/>
                </a:solidFill>
              </a:rPr>
              <a:t>Correlation Heatmap</a:t>
            </a:r>
          </a:p>
        </p:txBody>
      </p:sp>
      <p:sp>
        <p:nvSpPr>
          <p:cNvPr id="3" name="Content Placeholder 2"/>
          <p:cNvSpPr>
            <a:spLocks noGrp="1"/>
          </p:cNvSpPr>
          <p:nvPr>
            <p:ph idx="1"/>
          </p:nvPr>
        </p:nvSpPr>
        <p:spPr>
          <a:xfrm>
            <a:off x="390525" y="533398"/>
            <a:ext cx="8229600" cy="5924552"/>
          </a:xfrm>
        </p:spPr>
        <p:txBody>
          <a:bodyPr>
            <a:normAutofit/>
          </a:bodyPr>
          <a:lstStyle/>
          <a:p>
            <a:r>
              <a:rPr sz="1600" b="1" i="1" dirty="0"/>
              <a:t>Illustration of malaria prevalence correlation with environmental and demographic factors.</a:t>
            </a:r>
          </a:p>
        </p:txBody>
      </p:sp>
      <p:pic>
        <p:nvPicPr>
          <p:cNvPr id="4" name="Picture 3" descr="correlation_heatmap.png"/>
          <p:cNvPicPr>
            <a:picLocks noChangeAspect="1"/>
          </p:cNvPicPr>
          <p:nvPr/>
        </p:nvPicPr>
        <p:blipFill>
          <a:blip r:embed="rId2"/>
          <a:stretch>
            <a:fillRect/>
          </a:stretch>
        </p:blipFill>
        <p:spPr>
          <a:xfrm>
            <a:off x="1057276" y="931863"/>
            <a:ext cx="2590800" cy="2078037"/>
          </a:xfrm>
          <a:prstGeom prst="rect">
            <a:avLst/>
          </a:prstGeom>
        </p:spPr>
      </p:pic>
      <p:sp>
        <p:nvSpPr>
          <p:cNvPr id="5" name="TextBox 4">
            <a:extLst>
              <a:ext uri="{FF2B5EF4-FFF2-40B4-BE49-F238E27FC236}">
                <a16:creationId xmlns:a16="http://schemas.microsoft.com/office/drawing/2014/main" id="{71AC8B64-091A-5C5C-E612-E9C9E28B01D5}"/>
              </a:ext>
            </a:extLst>
          </p:cNvPr>
          <p:cNvSpPr txBox="1"/>
          <p:nvPr/>
        </p:nvSpPr>
        <p:spPr>
          <a:xfrm>
            <a:off x="608868" y="3009900"/>
            <a:ext cx="3382842" cy="707886"/>
          </a:xfrm>
          <a:prstGeom prst="rect">
            <a:avLst/>
          </a:prstGeom>
          <a:noFill/>
        </p:spPr>
        <p:txBody>
          <a:bodyPr wrap="square" rtlCol="0">
            <a:spAutoFit/>
          </a:bodyPr>
          <a:lstStyle/>
          <a:p>
            <a:r>
              <a:rPr lang="en-US" sz="1050" i="1" dirty="0"/>
              <a:t>Malaria prevalence strongly correlates with temperature (0.92), humidity (0.81), precipitation (0.95)… etc.</a:t>
            </a:r>
          </a:p>
          <a:p>
            <a:endParaRPr lang="en-US" i="1" dirty="0"/>
          </a:p>
        </p:txBody>
      </p:sp>
      <p:pic>
        <p:nvPicPr>
          <p:cNvPr id="7" name="Picture 6">
            <a:extLst>
              <a:ext uri="{FF2B5EF4-FFF2-40B4-BE49-F238E27FC236}">
                <a16:creationId xmlns:a16="http://schemas.microsoft.com/office/drawing/2014/main" id="{823D319F-E95C-6433-6CA0-D695EFD59095}"/>
              </a:ext>
            </a:extLst>
          </p:cNvPr>
          <p:cNvPicPr>
            <a:picLocks noChangeAspect="1"/>
          </p:cNvPicPr>
          <p:nvPr/>
        </p:nvPicPr>
        <p:blipFill>
          <a:blip r:embed="rId3"/>
          <a:stretch>
            <a:fillRect/>
          </a:stretch>
        </p:blipFill>
        <p:spPr>
          <a:xfrm>
            <a:off x="5495926" y="931862"/>
            <a:ext cx="2352675" cy="2078037"/>
          </a:xfrm>
          <a:prstGeom prst="rect">
            <a:avLst/>
          </a:prstGeom>
        </p:spPr>
      </p:pic>
      <p:pic>
        <p:nvPicPr>
          <p:cNvPr id="9" name="Picture 8">
            <a:extLst>
              <a:ext uri="{FF2B5EF4-FFF2-40B4-BE49-F238E27FC236}">
                <a16:creationId xmlns:a16="http://schemas.microsoft.com/office/drawing/2014/main" id="{5D95911F-6C72-0A16-CF31-36ECF40EAD73}"/>
              </a:ext>
            </a:extLst>
          </p:cNvPr>
          <p:cNvPicPr>
            <a:picLocks noChangeAspect="1"/>
          </p:cNvPicPr>
          <p:nvPr/>
        </p:nvPicPr>
        <p:blipFill>
          <a:blip r:embed="rId4"/>
          <a:stretch>
            <a:fillRect/>
          </a:stretch>
        </p:blipFill>
        <p:spPr>
          <a:xfrm>
            <a:off x="1052513" y="4260712"/>
            <a:ext cx="1933575" cy="1535111"/>
          </a:xfrm>
          <a:prstGeom prst="rect">
            <a:avLst/>
          </a:prstGeom>
        </p:spPr>
      </p:pic>
      <p:pic>
        <p:nvPicPr>
          <p:cNvPr id="11" name="Picture 10">
            <a:extLst>
              <a:ext uri="{FF2B5EF4-FFF2-40B4-BE49-F238E27FC236}">
                <a16:creationId xmlns:a16="http://schemas.microsoft.com/office/drawing/2014/main" id="{832024F5-3DFF-1DCE-5653-66C97791AB57}"/>
              </a:ext>
            </a:extLst>
          </p:cNvPr>
          <p:cNvPicPr>
            <a:picLocks noChangeAspect="1"/>
          </p:cNvPicPr>
          <p:nvPr/>
        </p:nvPicPr>
        <p:blipFill>
          <a:blip r:embed="rId5"/>
          <a:stretch>
            <a:fillRect/>
          </a:stretch>
        </p:blipFill>
        <p:spPr>
          <a:xfrm>
            <a:off x="3648076" y="4262299"/>
            <a:ext cx="1933574" cy="1533524"/>
          </a:xfrm>
          <a:prstGeom prst="rect">
            <a:avLst/>
          </a:prstGeom>
        </p:spPr>
      </p:pic>
      <p:pic>
        <p:nvPicPr>
          <p:cNvPr id="13" name="Picture 12">
            <a:extLst>
              <a:ext uri="{FF2B5EF4-FFF2-40B4-BE49-F238E27FC236}">
                <a16:creationId xmlns:a16="http://schemas.microsoft.com/office/drawing/2014/main" id="{D5891A9B-98A5-435C-067A-079AF9F105FC}"/>
              </a:ext>
            </a:extLst>
          </p:cNvPr>
          <p:cNvPicPr>
            <a:picLocks noChangeAspect="1"/>
          </p:cNvPicPr>
          <p:nvPr/>
        </p:nvPicPr>
        <p:blipFill>
          <a:blip r:embed="rId6"/>
          <a:stretch>
            <a:fillRect/>
          </a:stretch>
        </p:blipFill>
        <p:spPr>
          <a:xfrm>
            <a:off x="6157914" y="4262299"/>
            <a:ext cx="1933573" cy="1533524"/>
          </a:xfrm>
          <a:prstGeom prst="rect">
            <a:avLst/>
          </a:prstGeom>
        </p:spPr>
      </p:pic>
      <p:sp>
        <p:nvSpPr>
          <p:cNvPr id="14" name="TextBox 13">
            <a:extLst>
              <a:ext uri="{FF2B5EF4-FFF2-40B4-BE49-F238E27FC236}">
                <a16:creationId xmlns:a16="http://schemas.microsoft.com/office/drawing/2014/main" id="{AEDAD428-4C57-8726-DDCA-D3A0F7E65363}"/>
              </a:ext>
            </a:extLst>
          </p:cNvPr>
          <p:cNvSpPr txBox="1"/>
          <p:nvPr/>
        </p:nvSpPr>
        <p:spPr>
          <a:xfrm>
            <a:off x="5152292" y="3064787"/>
            <a:ext cx="3157990" cy="430887"/>
          </a:xfrm>
          <a:prstGeom prst="rect">
            <a:avLst/>
          </a:prstGeom>
          <a:noFill/>
        </p:spPr>
        <p:txBody>
          <a:bodyPr wrap="square" rtlCol="0">
            <a:spAutoFit/>
          </a:bodyPr>
          <a:lstStyle/>
          <a:p>
            <a:r>
              <a:rPr lang="en-US" sz="1050" dirty="0"/>
              <a:t>Correlation matrices between environmental factor and malaria load</a:t>
            </a:r>
          </a:p>
        </p:txBody>
      </p:sp>
      <p:sp>
        <p:nvSpPr>
          <p:cNvPr id="15" name="TextBox 14">
            <a:extLst>
              <a:ext uri="{FF2B5EF4-FFF2-40B4-BE49-F238E27FC236}">
                <a16:creationId xmlns:a16="http://schemas.microsoft.com/office/drawing/2014/main" id="{E99DEAD6-1265-C426-14D7-7B0A7E4D1C47}"/>
              </a:ext>
            </a:extLst>
          </p:cNvPr>
          <p:cNvSpPr txBox="1"/>
          <p:nvPr/>
        </p:nvSpPr>
        <p:spPr>
          <a:xfrm>
            <a:off x="3076859" y="3554413"/>
            <a:ext cx="3157990" cy="369332"/>
          </a:xfrm>
          <a:prstGeom prst="rect">
            <a:avLst/>
          </a:prstGeom>
          <a:noFill/>
        </p:spPr>
        <p:txBody>
          <a:bodyPr wrap="square" rtlCol="0">
            <a:spAutoFit/>
          </a:bodyPr>
          <a:lstStyle/>
          <a:p>
            <a:r>
              <a:rPr lang="en-US" b="1" dirty="0"/>
              <a:t>Visualizing Distribution Plot</a:t>
            </a:r>
          </a:p>
        </p:txBody>
      </p:sp>
      <p:sp>
        <p:nvSpPr>
          <p:cNvPr id="6" name="Oval 5">
            <a:extLst>
              <a:ext uri="{FF2B5EF4-FFF2-40B4-BE49-F238E27FC236}">
                <a16:creationId xmlns:a16="http://schemas.microsoft.com/office/drawing/2014/main" id="{0BB06E5C-42F4-981A-0E4B-2BE6AF5644A5}"/>
              </a:ext>
            </a:extLst>
          </p:cNvPr>
          <p:cNvSpPr/>
          <p:nvPr/>
        </p:nvSpPr>
        <p:spPr>
          <a:xfrm>
            <a:off x="2300289" y="197642"/>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a:extLst>
              <a:ext uri="{FF2B5EF4-FFF2-40B4-BE49-F238E27FC236}">
                <a16:creationId xmlns:a16="http://schemas.microsoft.com/office/drawing/2014/main" id="{E2B9E6C3-8ABC-E938-ED2D-14AD936E1B33}"/>
              </a:ext>
            </a:extLst>
          </p:cNvPr>
          <p:cNvSpPr/>
          <p:nvPr/>
        </p:nvSpPr>
        <p:spPr>
          <a:xfrm>
            <a:off x="6672263" y="197642"/>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25">
          <a:fgClr>
            <a:srgbClr val="92D050"/>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27739" y="298938"/>
            <a:ext cx="4730261" cy="597878"/>
          </a:xfrm>
        </p:spPr>
        <p:txBody>
          <a:bodyPr>
            <a:normAutofit fontScale="90000"/>
          </a:bodyPr>
          <a:lstStyle/>
          <a:p>
            <a:r>
              <a:rPr lang="en-US" b="1" dirty="0">
                <a:solidFill>
                  <a:srgbClr val="FF0000"/>
                </a:solidFill>
              </a:rPr>
              <a:t>Thematic</a:t>
            </a:r>
            <a:r>
              <a:rPr b="1" dirty="0">
                <a:solidFill>
                  <a:srgbClr val="FF0000"/>
                </a:solidFill>
              </a:rPr>
              <a:t> </a:t>
            </a:r>
            <a:r>
              <a:rPr lang="en-US" b="1" dirty="0">
                <a:solidFill>
                  <a:srgbClr val="FF0000"/>
                </a:solidFill>
              </a:rPr>
              <a:t>Map</a:t>
            </a:r>
            <a:endParaRPr b="1" dirty="0">
              <a:solidFill>
                <a:srgbClr val="FF0000"/>
              </a:solidFill>
            </a:endParaRPr>
          </a:p>
        </p:txBody>
      </p:sp>
      <p:sp>
        <p:nvSpPr>
          <p:cNvPr id="3" name="Content Placeholder 2"/>
          <p:cNvSpPr>
            <a:spLocks noGrp="1"/>
          </p:cNvSpPr>
          <p:nvPr>
            <p:ph idx="1"/>
          </p:nvPr>
        </p:nvSpPr>
        <p:spPr>
          <a:xfrm>
            <a:off x="1705709" y="896816"/>
            <a:ext cx="5574323" cy="633046"/>
          </a:xfrm>
        </p:spPr>
        <p:txBody>
          <a:bodyPr>
            <a:noAutofit/>
          </a:bodyPr>
          <a:lstStyle/>
          <a:p>
            <a:pPr>
              <a:buNone/>
            </a:pPr>
            <a:r>
              <a:rPr sz="1600" b="1" i="1"/>
              <a:t> </a:t>
            </a:r>
            <a:r>
              <a:rPr lang="en-US" sz="1600" b="1" i="1" dirty="0"/>
              <a:t>	Using </a:t>
            </a:r>
            <a:r>
              <a:rPr sz="1600" b="1" i="1"/>
              <a:t>Folium/Leafmap interactive choropleth</a:t>
            </a:r>
            <a:r>
              <a:rPr lang="en-US" sz="1600" b="1" i="1" dirty="0"/>
              <a:t> and heat</a:t>
            </a:r>
            <a:r>
              <a:rPr sz="1600" b="1" i="1"/>
              <a:t>map</a:t>
            </a:r>
            <a:r>
              <a:rPr lang="en-US" sz="1600" b="1" i="1" dirty="0"/>
              <a:t> to visualize malaria prevalence across Nigeria.</a:t>
            </a:r>
            <a:endParaRPr sz="2000"/>
          </a:p>
        </p:txBody>
      </p:sp>
      <p:pic>
        <p:nvPicPr>
          <p:cNvPr id="1026" name="Picture 2" descr="C:\Users\MADAM ESTHER\Desktop\MUX PROJ\GEOSPA- COURSES\Proj Phase\Hotspot_Analysis_of_Malaria_Prevalence_Descriptive_Visualization_and_Machine_Learning_Prediction\hotspots maps\1763868462090.jpg"/>
          <p:cNvPicPr>
            <a:picLocks noChangeAspect="1" noChangeArrowheads="1"/>
          </p:cNvPicPr>
          <p:nvPr/>
        </p:nvPicPr>
        <p:blipFill>
          <a:blip r:embed="rId2"/>
          <a:srcRect/>
          <a:stretch>
            <a:fillRect/>
          </a:stretch>
        </p:blipFill>
        <p:spPr bwMode="auto">
          <a:xfrm>
            <a:off x="979854" y="1727200"/>
            <a:ext cx="3071446" cy="1663700"/>
          </a:xfrm>
          <a:prstGeom prst="rect">
            <a:avLst/>
          </a:prstGeom>
          <a:noFill/>
        </p:spPr>
      </p:pic>
      <p:pic>
        <p:nvPicPr>
          <p:cNvPr id="1027" name="Picture 3" descr="C:\Users\MADAM ESTHER\Desktop\MUX PROJ\GEOSPA- COURSES\Proj Phase\Hotspot_Analysis_of_Malaria_Prevalence_Descriptive_Visualization_and_Machine_Learning_Prediction\hotspots maps\IMG_20251120_180210_853@1734689630.jpg"/>
          <p:cNvPicPr>
            <a:picLocks noChangeAspect="1" noChangeArrowheads="1"/>
          </p:cNvPicPr>
          <p:nvPr/>
        </p:nvPicPr>
        <p:blipFill>
          <a:blip r:embed="rId3"/>
          <a:srcRect/>
          <a:stretch>
            <a:fillRect/>
          </a:stretch>
        </p:blipFill>
        <p:spPr bwMode="auto">
          <a:xfrm>
            <a:off x="4991100" y="1727200"/>
            <a:ext cx="3302000" cy="1663700"/>
          </a:xfrm>
          <a:prstGeom prst="rect">
            <a:avLst/>
          </a:prstGeom>
          <a:noFill/>
        </p:spPr>
      </p:pic>
      <p:pic>
        <p:nvPicPr>
          <p:cNvPr id="1028" name="Picture 4" descr="C:\Users\MADAM ESTHER\Desktop\MUX PROJ\GEOSPA- COURSES\Proj Phase\Hotspot_Analysis_of_Malaria_Prevalence_Descriptive_Visualization_and_Machine_Learning_Prediction\hotspots maps\IMG_20251120_180039_132@-422363235.jpg"/>
          <p:cNvPicPr>
            <a:picLocks noChangeAspect="1" noChangeArrowheads="1"/>
          </p:cNvPicPr>
          <p:nvPr/>
        </p:nvPicPr>
        <p:blipFill>
          <a:blip r:embed="rId4"/>
          <a:srcRect/>
          <a:stretch>
            <a:fillRect/>
          </a:stretch>
        </p:blipFill>
        <p:spPr bwMode="auto">
          <a:xfrm>
            <a:off x="979854" y="4114800"/>
            <a:ext cx="3071446" cy="1854200"/>
          </a:xfrm>
          <a:prstGeom prst="rect">
            <a:avLst/>
          </a:prstGeom>
          <a:noFill/>
        </p:spPr>
      </p:pic>
      <p:pic>
        <p:nvPicPr>
          <p:cNvPr id="1029" name="Picture 5" descr="C:\Users\MADAM ESTHER\Desktop\MUX PROJ\GEOSPA- COURSES\Proj Phase\Hotspot_Analysis_of_Malaria_Prevalence_Descriptive_Visualization_and_Machine_Learning_Prediction\hotspots maps\IMG_20251120_180238_011@1140470302.jpg"/>
          <p:cNvPicPr>
            <a:picLocks noChangeAspect="1" noChangeArrowheads="1"/>
          </p:cNvPicPr>
          <p:nvPr/>
        </p:nvPicPr>
        <p:blipFill>
          <a:blip r:embed="rId5"/>
          <a:srcRect/>
          <a:stretch>
            <a:fillRect/>
          </a:stretch>
        </p:blipFill>
        <p:spPr bwMode="auto">
          <a:xfrm>
            <a:off x="4902200" y="4114800"/>
            <a:ext cx="3390900" cy="1854200"/>
          </a:xfrm>
          <a:prstGeom prst="rect">
            <a:avLst/>
          </a:prstGeom>
          <a:noFill/>
        </p:spPr>
      </p:pic>
      <p:sp>
        <p:nvSpPr>
          <p:cNvPr id="6" name="TextBox 5">
            <a:extLst>
              <a:ext uri="{FF2B5EF4-FFF2-40B4-BE49-F238E27FC236}">
                <a16:creationId xmlns:a16="http://schemas.microsoft.com/office/drawing/2014/main" id="{10B1AA13-7F7B-4AD8-1E48-BD64624FBB1B}"/>
              </a:ext>
            </a:extLst>
          </p:cNvPr>
          <p:cNvSpPr txBox="1"/>
          <p:nvPr/>
        </p:nvSpPr>
        <p:spPr>
          <a:xfrm>
            <a:off x="5349336" y="6183868"/>
            <a:ext cx="2496628" cy="369332"/>
          </a:xfrm>
          <a:prstGeom prst="rect">
            <a:avLst/>
          </a:prstGeom>
          <a:noFill/>
        </p:spPr>
        <p:txBody>
          <a:bodyPr wrap="square" rtlCol="0">
            <a:spAutoFit/>
          </a:bodyPr>
          <a:lstStyle/>
          <a:p>
            <a:endParaRPr lang="en-US" dirty="0"/>
          </a:p>
        </p:txBody>
      </p:sp>
      <p:sp>
        <p:nvSpPr>
          <p:cNvPr id="7" name="TextBox 6">
            <a:extLst>
              <a:ext uri="{FF2B5EF4-FFF2-40B4-BE49-F238E27FC236}">
                <a16:creationId xmlns:a16="http://schemas.microsoft.com/office/drawing/2014/main" id="{99390244-7FC1-E339-C9B6-DD1ED2A17C8B}"/>
              </a:ext>
            </a:extLst>
          </p:cNvPr>
          <p:cNvSpPr txBox="1"/>
          <p:nvPr/>
        </p:nvSpPr>
        <p:spPr>
          <a:xfrm>
            <a:off x="4902200" y="6083738"/>
            <a:ext cx="3390900" cy="646331"/>
          </a:xfrm>
          <a:prstGeom prst="rect">
            <a:avLst/>
          </a:prstGeom>
          <a:noFill/>
        </p:spPr>
        <p:txBody>
          <a:bodyPr wrap="square" rtlCol="0">
            <a:spAutoFit/>
          </a:bodyPr>
          <a:lstStyle/>
          <a:p>
            <a:r>
              <a:rPr lang="en-US" dirty="0"/>
              <a:t>Heatmap overlay (Density of malaria cases across Nigeria).</a:t>
            </a:r>
          </a:p>
        </p:txBody>
      </p:sp>
      <p:sp>
        <p:nvSpPr>
          <p:cNvPr id="8" name="TextBox 7">
            <a:extLst>
              <a:ext uri="{FF2B5EF4-FFF2-40B4-BE49-F238E27FC236}">
                <a16:creationId xmlns:a16="http://schemas.microsoft.com/office/drawing/2014/main" id="{14CA2CEC-1AB9-8A1A-B6DC-9172916E0A18}"/>
              </a:ext>
            </a:extLst>
          </p:cNvPr>
          <p:cNvSpPr txBox="1"/>
          <p:nvPr/>
        </p:nvSpPr>
        <p:spPr>
          <a:xfrm>
            <a:off x="4991100" y="3487132"/>
            <a:ext cx="3117730" cy="646331"/>
          </a:xfrm>
          <a:prstGeom prst="rect">
            <a:avLst/>
          </a:prstGeom>
          <a:noFill/>
        </p:spPr>
        <p:txBody>
          <a:bodyPr wrap="square" rtlCol="0">
            <a:spAutoFit/>
          </a:bodyPr>
          <a:lstStyle/>
          <a:p>
            <a:r>
              <a:rPr lang="en-US" dirty="0"/>
              <a:t>Cluster circle marker(Malaria cases per state)</a:t>
            </a:r>
          </a:p>
        </p:txBody>
      </p:sp>
      <p:sp>
        <p:nvSpPr>
          <p:cNvPr id="9" name="TextBox 8">
            <a:extLst>
              <a:ext uri="{FF2B5EF4-FFF2-40B4-BE49-F238E27FC236}">
                <a16:creationId xmlns:a16="http://schemas.microsoft.com/office/drawing/2014/main" id="{58AAFA8F-DD93-36EF-97D9-A5F0AD4C5AE8}"/>
              </a:ext>
            </a:extLst>
          </p:cNvPr>
          <p:cNvSpPr txBox="1"/>
          <p:nvPr/>
        </p:nvSpPr>
        <p:spPr>
          <a:xfrm>
            <a:off x="979854" y="6125598"/>
            <a:ext cx="3071446" cy="646331"/>
          </a:xfrm>
          <a:prstGeom prst="rect">
            <a:avLst/>
          </a:prstGeom>
          <a:noFill/>
        </p:spPr>
        <p:txBody>
          <a:bodyPr wrap="square" rtlCol="0">
            <a:spAutoFit/>
          </a:bodyPr>
          <a:lstStyle/>
          <a:p>
            <a:r>
              <a:rPr lang="en-US" dirty="0"/>
              <a:t>Choropleth hotspots (total malaria prevalence by state).</a:t>
            </a:r>
          </a:p>
        </p:txBody>
      </p:sp>
      <p:sp>
        <p:nvSpPr>
          <p:cNvPr id="4" name="Oval 3">
            <a:extLst>
              <a:ext uri="{FF2B5EF4-FFF2-40B4-BE49-F238E27FC236}">
                <a16:creationId xmlns:a16="http://schemas.microsoft.com/office/drawing/2014/main" id="{0A224E2D-30C7-FD26-4D64-CB0CB59EF6D9}"/>
              </a:ext>
            </a:extLst>
          </p:cNvPr>
          <p:cNvSpPr/>
          <p:nvPr/>
        </p:nvSpPr>
        <p:spPr>
          <a:xfrm>
            <a:off x="2365742" y="439919"/>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5" name="Oval 4">
            <a:extLst>
              <a:ext uri="{FF2B5EF4-FFF2-40B4-BE49-F238E27FC236}">
                <a16:creationId xmlns:a16="http://schemas.microsoft.com/office/drawing/2014/main" id="{BAD1DAEA-B3F8-B093-E7F8-FD4ABD4D44A8}"/>
              </a:ext>
            </a:extLst>
          </p:cNvPr>
          <p:cNvSpPr/>
          <p:nvPr/>
        </p:nvSpPr>
        <p:spPr>
          <a:xfrm>
            <a:off x="6250295" y="434074"/>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lgCheck">
          <a:fgClr>
            <a:srgbClr val="CBF6BC"/>
          </a:fgClr>
          <a:bgClr>
            <a:schemeClr val="bg1"/>
          </a:bgClr>
        </a:pattFill>
        <a:effectLst/>
      </p:bgPr>
    </p:bg>
    <p:spTree>
      <p:nvGrpSpPr>
        <p:cNvPr id="1" name=""/>
        <p:cNvGrpSpPr/>
        <p:nvPr/>
      </p:nvGrpSpPr>
      <p:grpSpPr>
        <a:xfrm>
          <a:off x="0" y="0"/>
          <a:ext cx="0" cy="0"/>
          <a:chOff x="0" y="0"/>
          <a:chExt cx="0" cy="0"/>
        </a:xfrm>
      </p:grpSpPr>
      <p:pic>
        <p:nvPicPr>
          <p:cNvPr id="10" name="Content Placeholder 4">
            <a:extLst>
              <a:ext uri="{FF2B5EF4-FFF2-40B4-BE49-F238E27FC236}">
                <a16:creationId xmlns:a16="http://schemas.microsoft.com/office/drawing/2014/main" id="{C4B04960-B2AA-7DC4-3AD0-AE17B034119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1401" y="0"/>
            <a:ext cx="1850202" cy="1185949"/>
          </a:xfrm>
          <a:prstGeom prst="rect">
            <a:avLst/>
          </a:prstGeom>
        </p:spPr>
      </p:pic>
      <p:sp>
        <p:nvSpPr>
          <p:cNvPr id="4" name="Flowchart: Display 3">
            <a:extLst>
              <a:ext uri="{FF2B5EF4-FFF2-40B4-BE49-F238E27FC236}">
                <a16:creationId xmlns:a16="http://schemas.microsoft.com/office/drawing/2014/main" id="{7F2B8396-8587-ADD6-FF3A-1A0F456F67AB}"/>
              </a:ext>
            </a:extLst>
          </p:cNvPr>
          <p:cNvSpPr/>
          <p:nvPr/>
        </p:nvSpPr>
        <p:spPr>
          <a:xfrm>
            <a:off x="246811" y="1257300"/>
            <a:ext cx="8650377" cy="4826000"/>
          </a:xfrm>
          <a:prstGeom prst="flowChartDisplay">
            <a:avLst/>
          </a:prstGeom>
          <a:pattFill prst="pct5">
            <a:fgClr>
              <a:srgbClr val="CBF6BC"/>
            </a:fgClr>
            <a:bgClr>
              <a:srgbClr val="009A46"/>
            </a:bgClr>
          </a:patt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99AE0C-664F-D4FE-4C32-CE5D33549BB0}"/>
              </a:ext>
            </a:extLst>
          </p:cNvPr>
          <p:cNvSpPr>
            <a:spLocks noGrp="1"/>
          </p:cNvSpPr>
          <p:nvPr>
            <p:ph type="title"/>
          </p:nvPr>
        </p:nvSpPr>
        <p:spPr/>
        <p:txBody>
          <a:bodyPr>
            <a:normAutofit/>
          </a:bodyPr>
          <a:lstStyle/>
          <a:p>
            <a:r>
              <a:rPr lang="en-US" b="1" dirty="0">
                <a:solidFill>
                  <a:srgbClr val="FF0000"/>
                </a:solidFill>
              </a:rPr>
              <a:t>Discussion</a:t>
            </a:r>
          </a:p>
        </p:txBody>
      </p:sp>
      <p:sp>
        <p:nvSpPr>
          <p:cNvPr id="3" name="Content Placeholder 2">
            <a:extLst>
              <a:ext uri="{FF2B5EF4-FFF2-40B4-BE49-F238E27FC236}">
                <a16:creationId xmlns:a16="http://schemas.microsoft.com/office/drawing/2014/main" id="{86A0A883-BEDE-7CED-924E-676B51CE4C0F}"/>
              </a:ext>
            </a:extLst>
          </p:cNvPr>
          <p:cNvSpPr>
            <a:spLocks noGrp="1"/>
          </p:cNvSpPr>
          <p:nvPr>
            <p:ph idx="1"/>
          </p:nvPr>
        </p:nvSpPr>
        <p:spPr>
          <a:xfrm>
            <a:off x="1567543" y="1155700"/>
            <a:ext cx="6676571" cy="4826000"/>
          </a:xfrm>
        </p:spPr>
        <p:txBody>
          <a:bodyPr>
            <a:normAutofit fontScale="25000" lnSpcReduction="20000"/>
          </a:bodyPr>
          <a:lstStyle/>
          <a:p>
            <a:pPr marL="0" indent="0">
              <a:buNone/>
            </a:pPr>
            <a:r>
              <a:rPr lang="en-US" sz="7200" b="1" dirty="0"/>
              <a:t> </a:t>
            </a:r>
          </a:p>
          <a:p>
            <a:pPr>
              <a:lnSpc>
                <a:spcPct val="170000"/>
              </a:lnSpc>
              <a:spcAft>
                <a:spcPts val="600"/>
              </a:spcAft>
              <a:buFont typeface="Wingdings" panose="05000000000000000000" pitchFamily="2" charset="2"/>
              <a:buChar char="v"/>
            </a:pPr>
            <a:r>
              <a:rPr lang="en-US" sz="6400" b="1" dirty="0">
                <a:solidFill>
                  <a:schemeClr val="bg1"/>
                </a:solidFill>
              </a:rPr>
              <a:t>The strong correlation between malaria prevalence and climatic factors aligns with existing literature on malaria ecology. Warm, humid environments foster mosquito breeding and parasite development. The negative relationship with sea level suggests that low-lying areas are more prone to malaria transmission. Population density amplifies malaria risk, as urban centers may experience higher exposure rates despite varying levels of intervention there is a performance improvements observed across the models after fine-tuning and scaling, Identifying the best-performing model based on the evaluation metrics and that leads the discuss for the significance of the results for malaria prevalence hotspot analysis. Also suggesting any potential next steps for further model enhancement or real-world deployment.</a:t>
            </a:r>
          </a:p>
          <a:p>
            <a:pPr>
              <a:lnSpc>
                <a:spcPct val="170000"/>
              </a:lnSpc>
              <a:spcAft>
                <a:spcPts val="600"/>
              </a:spcAft>
            </a:pPr>
            <a:endParaRPr lang="en-US" sz="2400" dirty="0"/>
          </a:p>
          <a:p>
            <a:endParaRPr lang="en-US" sz="2400" b="1" dirty="0"/>
          </a:p>
          <a:p>
            <a:endParaRPr lang="en-US" sz="400" dirty="0"/>
          </a:p>
        </p:txBody>
      </p:sp>
      <p:sp>
        <p:nvSpPr>
          <p:cNvPr id="5" name="Oval 4">
            <a:extLst>
              <a:ext uri="{FF2B5EF4-FFF2-40B4-BE49-F238E27FC236}">
                <a16:creationId xmlns:a16="http://schemas.microsoft.com/office/drawing/2014/main" id="{035F2FD8-03F1-1691-7CF5-FEE4421A692D}"/>
              </a:ext>
            </a:extLst>
          </p:cNvPr>
          <p:cNvSpPr/>
          <p:nvPr/>
        </p:nvSpPr>
        <p:spPr>
          <a:xfrm>
            <a:off x="8338860" y="5783528"/>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Oval 5">
            <a:extLst>
              <a:ext uri="{FF2B5EF4-FFF2-40B4-BE49-F238E27FC236}">
                <a16:creationId xmlns:a16="http://schemas.microsoft.com/office/drawing/2014/main" id="{0A813E3C-B437-31D2-4C4A-8B48ADAC9E18}"/>
              </a:ext>
            </a:extLst>
          </p:cNvPr>
          <p:cNvSpPr/>
          <p:nvPr/>
        </p:nvSpPr>
        <p:spPr>
          <a:xfrm>
            <a:off x="1162241" y="5783529"/>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Oval 6">
            <a:extLst>
              <a:ext uri="{FF2B5EF4-FFF2-40B4-BE49-F238E27FC236}">
                <a16:creationId xmlns:a16="http://schemas.microsoft.com/office/drawing/2014/main" id="{C851126B-2F00-8DC6-3628-00096292935C}"/>
              </a:ext>
            </a:extLst>
          </p:cNvPr>
          <p:cNvSpPr/>
          <p:nvPr/>
        </p:nvSpPr>
        <p:spPr>
          <a:xfrm>
            <a:off x="442060" y="3542652"/>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Oval 7">
            <a:extLst>
              <a:ext uri="{FF2B5EF4-FFF2-40B4-BE49-F238E27FC236}">
                <a16:creationId xmlns:a16="http://schemas.microsoft.com/office/drawing/2014/main" id="{CB218F1C-3ABC-04EE-5F76-82FE626FAC60}"/>
              </a:ext>
            </a:extLst>
          </p:cNvPr>
          <p:cNvSpPr/>
          <p:nvPr/>
        </p:nvSpPr>
        <p:spPr>
          <a:xfrm>
            <a:off x="1159050" y="1257300"/>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Oval 8">
            <a:extLst>
              <a:ext uri="{FF2B5EF4-FFF2-40B4-BE49-F238E27FC236}">
                <a16:creationId xmlns:a16="http://schemas.microsoft.com/office/drawing/2014/main" id="{0A04EDB1-68DE-638F-6C49-6FCCF330F112}"/>
              </a:ext>
            </a:extLst>
          </p:cNvPr>
          <p:cNvSpPr/>
          <p:nvPr/>
        </p:nvSpPr>
        <p:spPr>
          <a:xfrm>
            <a:off x="8338860" y="1259507"/>
            <a:ext cx="299670" cy="299771"/>
          </a:xfrm>
          <a:prstGeom prst="ellipse">
            <a:avLst/>
          </a:prstGeom>
          <a:pattFill prst="pct5">
            <a:fgClr>
              <a:srgbClr val="92D050"/>
            </a:fgClr>
            <a:bgClr>
              <a:schemeClr val="bg1"/>
            </a:bgClr>
          </a:patt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783071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lgCheck">
          <a:fgClr>
            <a:srgbClr val="CBF6BC"/>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D2C6-21BF-B1E8-D45C-D196B2171954}"/>
              </a:ext>
            </a:extLst>
          </p:cNvPr>
          <p:cNvSpPr>
            <a:spLocks noGrp="1"/>
          </p:cNvSpPr>
          <p:nvPr>
            <p:ph type="title"/>
          </p:nvPr>
        </p:nvSpPr>
        <p:spPr>
          <a:xfrm>
            <a:off x="1651000" y="274638"/>
            <a:ext cx="5842000" cy="1143000"/>
          </a:xfrm>
        </p:spPr>
        <p:txBody>
          <a:bodyPr/>
          <a:lstStyle/>
          <a:p>
            <a:r>
              <a:rPr lang="en-US" b="1" dirty="0">
                <a:solidFill>
                  <a:srgbClr val="FF0000"/>
                </a:solidFill>
              </a:rPr>
              <a:t>Result Findings</a:t>
            </a:r>
          </a:p>
        </p:txBody>
      </p:sp>
      <p:sp>
        <p:nvSpPr>
          <p:cNvPr id="3" name="Content Placeholder 2">
            <a:extLst>
              <a:ext uri="{FF2B5EF4-FFF2-40B4-BE49-F238E27FC236}">
                <a16:creationId xmlns:a16="http://schemas.microsoft.com/office/drawing/2014/main" id="{20F8B3F7-068B-ABA2-ED89-E942D2734710}"/>
              </a:ext>
            </a:extLst>
          </p:cNvPr>
          <p:cNvSpPr>
            <a:spLocks noGrp="1"/>
          </p:cNvSpPr>
          <p:nvPr>
            <p:ph idx="1"/>
          </p:nvPr>
        </p:nvSpPr>
        <p:spPr>
          <a:pattFill prst="pct5">
            <a:fgClr>
              <a:srgbClr val="92D050"/>
            </a:fgClr>
            <a:bgClr>
              <a:srgbClr val="00B050"/>
            </a:bgClr>
          </a:pattFill>
        </p:spPr>
        <p:txBody>
          <a:bodyPr>
            <a:normAutofit fontScale="32500" lnSpcReduction="20000"/>
          </a:bodyPr>
          <a:lstStyle/>
          <a:p>
            <a:pPr>
              <a:buFont typeface="Wingdings" panose="05000000000000000000" pitchFamily="2" charset="2"/>
              <a:buChar char="v"/>
            </a:pPr>
            <a:r>
              <a:rPr lang="en-US" sz="5000" b="1" dirty="0">
                <a:solidFill>
                  <a:schemeClr val="bg1"/>
                </a:solidFill>
              </a:rPr>
              <a:t>Correlation Among Malaria Indicators:</a:t>
            </a:r>
          </a:p>
          <a:p>
            <a:pPr lvl="1"/>
            <a:r>
              <a:rPr lang="en-US" sz="5000" b="1" dirty="0">
                <a:solidFill>
                  <a:schemeClr val="bg1"/>
                </a:solidFill>
              </a:rPr>
              <a:t>Malaria prevalence correlated with RDT confirmation (0.56) and ACT confirmation (0.45).</a:t>
            </a:r>
          </a:p>
          <a:p>
            <a:pPr lvl="1"/>
            <a:r>
              <a:rPr lang="en-US" sz="5000" b="1" dirty="0">
                <a:solidFill>
                  <a:schemeClr val="bg1"/>
                </a:solidFill>
              </a:rPr>
              <a:t>State-level aggregated malaria prevalence strongly correlated with mean RDT (0.80) and ACT (0.66).</a:t>
            </a:r>
          </a:p>
          <a:p>
            <a:pPr>
              <a:buFont typeface="Wingdings" panose="05000000000000000000" pitchFamily="2" charset="2"/>
              <a:buChar char="v"/>
            </a:pPr>
            <a:r>
              <a:rPr lang="en-US" sz="5000" b="1" dirty="0">
                <a:solidFill>
                  <a:schemeClr val="bg1"/>
                </a:solidFill>
              </a:rPr>
              <a:t>Environmental Factors:</a:t>
            </a:r>
          </a:p>
          <a:p>
            <a:pPr lvl="1"/>
            <a:r>
              <a:rPr lang="en-US" sz="5000" b="1" dirty="0">
                <a:solidFill>
                  <a:schemeClr val="bg1"/>
                </a:solidFill>
              </a:rPr>
              <a:t>Malaria prevalence strongly correlated with:</a:t>
            </a:r>
          </a:p>
          <a:p>
            <a:pPr lvl="2"/>
            <a:r>
              <a:rPr lang="en-US" sz="5000" b="1" dirty="0">
                <a:solidFill>
                  <a:schemeClr val="bg1"/>
                </a:solidFill>
              </a:rPr>
              <a:t>Temperature (0.92)</a:t>
            </a:r>
          </a:p>
          <a:p>
            <a:pPr lvl="2"/>
            <a:r>
              <a:rPr lang="en-US" sz="5000" b="1" dirty="0">
                <a:solidFill>
                  <a:schemeClr val="bg1"/>
                </a:solidFill>
              </a:rPr>
              <a:t>Humidity (0.81)</a:t>
            </a:r>
          </a:p>
          <a:p>
            <a:pPr lvl="2"/>
            <a:r>
              <a:rPr lang="en-US" sz="5000" b="1" dirty="0">
                <a:solidFill>
                  <a:schemeClr val="bg1"/>
                </a:solidFill>
              </a:rPr>
              <a:t>Precipitation/Weather degree (0.95)</a:t>
            </a:r>
          </a:p>
          <a:p>
            <a:pPr lvl="2"/>
            <a:r>
              <a:rPr lang="en-US" sz="5000" b="1" dirty="0">
                <a:solidFill>
                  <a:schemeClr val="bg1"/>
                </a:solidFill>
              </a:rPr>
              <a:t>Cloud coverage (0.90)</a:t>
            </a:r>
          </a:p>
          <a:p>
            <a:pPr lvl="1"/>
            <a:r>
              <a:rPr lang="en-US" sz="5000" b="1" dirty="0">
                <a:solidFill>
                  <a:schemeClr val="bg1"/>
                </a:solidFill>
              </a:rPr>
              <a:t>Negative correlation with sea level (-0.97).</a:t>
            </a:r>
          </a:p>
          <a:p>
            <a:pPr>
              <a:buFont typeface="Wingdings" panose="05000000000000000000" pitchFamily="2" charset="2"/>
              <a:buChar char="v"/>
            </a:pPr>
            <a:r>
              <a:rPr lang="en-US" sz="5000" b="1" dirty="0">
                <a:solidFill>
                  <a:schemeClr val="bg1"/>
                </a:solidFill>
              </a:rPr>
              <a:t>Population Factors:</a:t>
            </a:r>
          </a:p>
          <a:p>
            <a:pPr lvl="1"/>
            <a:r>
              <a:rPr lang="en-US" sz="5000" b="1" dirty="0">
                <a:solidFill>
                  <a:schemeClr val="bg1"/>
                </a:solidFill>
              </a:rPr>
              <a:t>Population size moderately correlated with malaria prevalence (0.56) and environmental variables.</a:t>
            </a:r>
          </a:p>
          <a:p>
            <a:pPr>
              <a:buFont typeface="Wingdings" panose="05000000000000000000" pitchFamily="2" charset="2"/>
              <a:buChar char="v"/>
            </a:pPr>
            <a:r>
              <a:rPr lang="en-US" sz="5000" b="1" dirty="0">
                <a:solidFill>
                  <a:schemeClr val="bg1"/>
                </a:solidFill>
              </a:rPr>
              <a:t>Spatial Distribution:</a:t>
            </a:r>
          </a:p>
          <a:p>
            <a:pPr lvl="1"/>
            <a:r>
              <a:rPr lang="en-US" sz="5000" b="1" dirty="0">
                <a:solidFill>
                  <a:schemeClr val="bg1"/>
                </a:solidFill>
              </a:rPr>
              <a:t>Choropleth maps showed malaria prevalence concentrated in states with high humidity, temperature, and dense population clusters</a:t>
            </a:r>
          </a:p>
          <a:p>
            <a:endParaRPr lang="en-US" dirty="0"/>
          </a:p>
        </p:txBody>
      </p:sp>
      <p:pic>
        <p:nvPicPr>
          <p:cNvPr id="4" name="Content Placeholder 4">
            <a:extLst>
              <a:ext uri="{FF2B5EF4-FFF2-40B4-BE49-F238E27FC236}">
                <a16:creationId xmlns:a16="http://schemas.microsoft.com/office/drawing/2014/main" id="{8ED7C5B2-21CC-DD51-D5EC-66D7958AD3F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46100" y="274637"/>
            <a:ext cx="1574800" cy="1143001"/>
          </a:xfrm>
          <a:prstGeom prst="rect">
            <a:avLst/>
          </a:prstGeom>
          <a:pattFill prst="pct5">
            <a:fgClr>
              <a:srgbClr val="92D050"/>
            </a:fgClr>
            <a:bgClr>
              <a:schemeClr val="bg1"/>
            </a:bgClr>
          </a:pattFill>
        </p:spPr>
      </p:pic>
    </p:spTree>
    <p:extLst>
      <p:ext uri="{BB962C8B-B14F-4D97-AF65-F5344CB8AC3E}">
        <p14:creationId xmlns:p14="http://schemas.microsoft.com/office/powerpoint/2010/main" val="3663935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20">
          <a:fgClr>
            <a:srgbClr val="92D050"/>
          </a:fgClr>
          <a:bgClr>
            <a:schemeClr val="bg1"/>
          </a:bgClr>
        </a:patt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7DDB8385-25D6-F6F2-8318-08669D4CE6C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1"/>
            <a:ext cx="2032000" cy="1193800"/>
          </a:xfrm>
          <a:prstGeom prst="rect">
            <a:avLst/>
          </a:prstGeom>
        </p:spPr>
      </p:pic>
      <p:sp>
        <p:nvSpPr>
          <p:cNvPr id="2" name="Title 1">
            <a:extLst>
              <a:ext uri="{FF2B5EF4-FFF2-40B4-BE49-F238E27FC236}">
                <a16:creationId xmlns:a16="http://schemas.microsoft.com/office/drawing/2014/main" id="{49AE29AF-958F-6803-284B-4587237CADDF}"/>
              </a:ext>
            </a:extLst>
          </p:cNvPr>
          <p:cNvSpPr>
            <a:spLocks noGrp="1"/>
          </p:cNvSpPr>
          <p:nvPr>
            <p:ph type="title"/>
          </p:nvPr>
        </p:nvSpPr>
        <p:spPr>
          <a:xfrm>
            <a:off x="1676400" y="274638"/>
            <a:ext cx="7010400" cy="1084262"/>
          </a:xfrm>
        </p:spPr>
        <p:txBody>
          <a:bodyPr>
            <a:normAutofit/>
          </a:bodyPr>
          <a:lstStyle/>
          <a:p>
            <a:r>
              <a:rPr lang="en-US" sz="3600" b="1" dirty="0">
                <a:solidFill>
                  <a:srgbClr val="FF0000"/>
                </a:solidFill>
              </a:rPr>
              <a:t>Conclusion and Recommendation</a:t>
            </a:r>
          </a:p>
        </p:txBody>
      </p:sp>
      <p:sp>
        <p:nvSpPr>
          <p:cNvPr id="3" name="Content Placeholder 2">
            <a:extLst>
              <a:ext uri="{FF2B5EF4-FFF2-40B4-BE49-F238E27FC236}">
                <a16:creationId xmlns:a16="http://schemas.microsoft.com/office/drawing/2014/main" id="{C580E28E-F314-F191-B73D-0DB51EF5A9D8}"/>
              </a:ext>
            </a:extLst>
          </p:cNvPr>
          <p:cNvSpPr>
            <a:spLocks noGrp="1"/>
          </p:cNvSpPr>
          <p:nvPr>
            <p:ph idx="1"/>
          </p:nvPr>
        </p:nvSpPr>
        <p:spPr/>
        <p:txBody>
          <a:bodyPr>
            <a:normAutofit fontScale="92500" lnSpcReduction="20000"/>
          </a:bodyPr>
          <a:lstStyle/>
          <a:p>
            <a:pPr marL="0" indent="0" algn="just">
              <a:buNone/>
            </a:pPr>
            <a:r>
              <a:rPr lang="en-US" sz="1800" dirty="0"/>
              <a:t>	</a:t>
            </a:r>
            <a:r>
              <a:rPr lang="en-US" sz="1900" b="1" dirty="0">
                <a:solidFill>
                  <a:srgbClr val="FF0000"/>
                </a:solidFill>
              </a:rPr>
              <a:t>Conclusion:</a:t>
            </a:r>
            <a:r>
              <a:rPr lang="en-US" sz="1800" b="1" dirty="0"/>
              <a:t> </a:t>
            </a:r>
            <a:r>
              <a:rPr lang="en-US" sz="1800" dirty="0"/>
              <a:t>This project demonstrate the following that;</a:t>
            </a:r>
            <a:endParaRPr lang="en-US" sz="1800" b="1" dirty="0"/>
          </a:p>
          <a:p>
            <a:r>
              <a:rPr lang="en-US" sz="1800" dirty="0"/>
              <a:t>Malaria prevalence in Nigeria is influenced by environmental and demographic conditions .</a:t>
            </a:r>
          </a:p>
          <a:p>
            <a:r>
              <a:rPr lang="en-US" sz="1800" dirty="0"/>
              <a:t>Targeted interventions in hotspot states, through the use of predictive risk modeling, and integrating multi-sectoral strategies.</a:t>
            </a:r>
          </a:p>
          <a:p>
            <a:r>
              <a:rPr lang="en-US" sz="1800" dirty="0"/>
              <a:t>This comparative analysis confirmed </a:t>
            </a:r>
            <a:r>
              <a:rPr lang="en-US" sz="1800" dirty="0" err="1"/>
              <a:t>XGBoost</a:t>
            </a:r>
            <a:r>
              <a:rPr lang="en-US" sz="1800" dirty="0"/>
              <a:t> as the top-performing model in terms of overall accuracy and balanced performance, making it the most suitable for detecting malaria prevalence hotspots.</a:t>
            </a:r>
          </a:p>
          <a:p>
            <a:pPr marL="0" indent="0">
              <a:buNone/>
            </a:pPr>
            <a:endParaRPr lang="en-US" sz="1800" dirty="0"/>
          </a:p>
          <a:p>
            <a:r>
              <a:rPr lang="en-US" sz="1900" b="1" dirty="0">
                <a:solidFill>
                  <a:srgbClr val="FF0000"/>
                </a:solidFill>
              </a:rPr>
              <a:t>Recommendations:</a:t>
            </a:r>
            <a:endParaRPr lang="en-US" sz="1800" dirty="0">
              <a:solidFill>
                <a:srgbClr val="FF0000"/>
              </a:solidFill>
            </a:endParaRPr>
          </a:p>
          <a:p>
            <a:r>
              <a:rPr lang="en-US" sz="1800" dirty="0"/>
              <a:t>Target malaria control programs in states with high climatic suitability for malaria transmission. (High-risk state require targeted interventions (bed nets, IRS spraying, awareness)).</a:t>
            </a:r>
          </a:p>
          <a:p>
            <a:r>
              <a:rPr lang="en-US" sz="1800" dirty="0"/>
              <a:t>Deploy geospatial risk maps to guide national malaria elimination campaigns.</a:t>
            </a:r>
          </a:p>
          <a:p>
            <a:r>
              <a:rPr lang="en-US" sz="1800" dirty="0"/>
              <a:t>Integrate machine learning models for predictive risk assessment to support early warning systems.</a:t>
            </a:r>
          </a:p>
          <a:p>
            <a:r>
              <a:rPr lang="en-US" sz="1800" dirty="0"/>
              <a:t>Encourage multi-sectoral approaches combining health, environmental, and urban planning data</a:t>
            </a:r>
          </a:p>
          <a:p>
            <a:pPr marL="0" indent="0">
              <a:buNone/>
            </a:pPr>
            <a:endParaRPr lang="en-US" sz="1800" dirty="0"/>
          </a:p>
          <a:p>
            <a:endParaRPr lang="en-US" dirty="0"/>
          </a:p>
          <a:p>
            <a:endParaRPr lang="en-US" dirty="0"/>
          </a:p>
        </p:txBody>
      </p:sp>
    </p:spTree>
    <p:extLst>
      <p:ext uri="{BB962C8B-B14F-4D97-AF65-F5344CB8AC3E}">
        <p14:creationId xmlns:p14="http://schemas.microsoft.com/office/powerpoint/2010/main" val="3676511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rgbClr val="92D050"/>
          </a:fgClr>
          <a:bgClr>
            <a:schemeClr val="bg1"/>
          </a:bgClr>
        </a:patt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AFDDE053-2AF6-58A3-E5FF-42FA89C3293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4991099"/>
            <a:ext cx="9144000" cy="1841501"/>
          </a:xfrm>
          <a:prstGeom prst="rect">
            <a:avLst/>
          </a:prstGeom>
        </p:spPr>
      </p:pic>
      <p:sp>
        <p:nvSpPr>
          <p:cNvPr id="2" name="Title 1">
            <a:extLst>
              <a:ext uri="{FF2B5EF4-FFF2-40B4-BE49-F238E27FC236}">
                <a16:creationId xmlns:a16="http://schemas.microsoft.com/office/drawing/2014/main" id="{5C6ACBAD-94FE-2FC3-F393-4CDBA2B51D9B}"/>
              </a:ext>
            </a:extLst>
          </p:cNvPr>
          <p:cNvSpPr>
            <a:spLocks noGrp="1"/>
          </p:cNvSpPr>
          <p:nvPr>
            <p:ph type="title"/>
          </p:nvPr>
        </p:nvSpPr>
        <p:spPr/>
        <p:txBody>
          <a:bodyPr>
            <a:normAutofit/>
          </a:bodyPr>
          <a:lstStyle/>
          <a:p>
            <a:r>
              <a:rPr lang="en-US" sz="4000" b="1" i="1" dirty="0">
                <a:solidFill>
                  <a:srgbClr val="FF0000"/>
                </a:solidFill>
              </a:rPr>
              <a:t>Dataset Resource Reference</a:t>
            </a:r>
            <a:endParaRPr lang="en-US" b="1" i="1" dirty="0">
              <a:solidFill>
                <a:srgbClr val="FF0000"/>
              </a:solidFill>
            </a:endParaRPr>
          </a:p>
        </p:txBody>
      </p:sp>
      <p:sp>
        <p:nvSpPr>
          <p:cNvPr id="3" name="Content Placeholder 2">
            <a:extLst>
              <a:ext uri="{FF2B5EF4-FFF2-40B4-BE49-F238E27FC236}">
                <a16:creationId xmlns:a16="http://schemas.microsoft.com/office/drawing/2014/main" id="{BD5C42AD-A22F-0E0F-9DDA-569E5C40187D}"/>
              </a:ext>
            </a:extLst>
          </p:cNvPr>
          <p:cNvSpPr>
            <a:spLocks noGrp="1"/>
          </p:cNvSpPr>
          <p:nvPr>
            <p:ph idx="1"/>
          </p:nvPr>
        </p:nvSpPr>
        <p:spPr/>
        <p:txBody>
          <a:bodyPr>
            <a:normAutofit/>
          </a:bodyPr>
          <a:lstStyle/>
          <a:p>
            <a:pPr algn="just">
              <a:buFont typeface="Wingdings" panose="05000000000000000000" pitchFamily="2" charset="2"/>
              <a:buChar char="v"/>
            </a:pPr>
            <a:r>
              <a:rPr lang="en-US" sz="1800" i="1" dirty="0"/>
              <a:t>National Malaria Elimination </a:t>
            </a:r>
            <a:r>
              <a:rPr lang="en-US" sz="1800" i="1" dirty="0" err="1"/>
              <a:t>Programme</a:t>
            </a:r>
            <a:r>
              <a:rPr lang="en-US" sz="1800" i="1" dirty="0"/>
              <a:t> (NMEP), World Health Organization Surveillance datasets, Nigeria Open Disease &amp; Health Data.</a:t>
            </a:r>
          </a:p>
          <a:p>
            <a:pPr algn="just">
              <a:buFont typeface="Wingdings" panose="05000000000000000000" pitchFamily="2" charset="2"/>
              <a:buChar char="v"/>
            </a:pPr>
            <a:r>
              <a:rPr lang="en-US" sz="1800" i="1" dirty="0"/>
              <a:t>Nigeria Malaria Indicator Survey, DHS Program.</a:t>
            </a:r>
          </a:p>
          <a:p>
            <a:pPr algn="just">
              <a:buFont typeface="Wingdings" panose="05000000000000000000" pitchFamily="2" charset="2"/>
              <a:buChar char="v"/>
            </a:pPr>
            <a:r>
              <a:rPr lang="en-US" sz="1800" i="1" dirty="0" err="1"/>
              <a:t>WorldPop</a:t>
            </a:r>
            <a:r>
              <a:rPr lang="en-US" sz="1800" i="1" dirty="0"/>
              <a:t> Hub</a:t>
            </a:r>
            <a:r>
              <a:rPr lang="en-US" sz="1400" i="1" dirty="0">
                <a:latin typeface="+mj-lt"/>
              </a:rPr>
              <a:t>. </a:t>
            </a:r>
            <a:r>
              <a:rPr lang="en-US" sz="1800" i="1" dirty="0">
                <a:latin typeface="+mj-lt"/>
              </a:rPr>
              <a:t> Grid3_Admin Boundary (</a:t>
            </a:r>
            <a:r>
              <a:rPr lang="en-US" sz="1800" i="1" dirty="0" err="1">
                <a:latin typeface="+mj-lt"/>
              </a:rPr>
              <a:t>NGA_State_Boundaries</a:t>
            </a:r>
            <a:r>
              <a:rPr lang="en-US" sz="1800" i="1" dirty="0">
                <a:latin typeface="+mj-lt"/>
              </a:rPr>
              <a:t>), Nigeria Malaria Survey (NMIS) from Ministry of Health, Nigeria Cities Weather Data by </a:t>
            </a:r>
            <a:r>
              <a:rPr lang="en-US" sz="1800" i="1" dirty="0" err="1">
                <a:latin typeface="+mj-lt"/>
              </a:rPr>
              <a:t>GeoBoundaries</a:t>
            </a:r>
            <a:r>
              <a:rPr lang="en-US" sz="1800" i="1" dirty="0">
                <a:latin typeface="+mj-lt"/>
              </a:rPr>
              <a:t> data provided under the Creative Commons Attribution 4.0 International (CC BY 4.0) license   (https://www.geoboundaries.org/).</a:t>
            </a:r>
          </a:p>
          <a:p>
            <a:pPr marL="0" indent="0">
              <a:buNone/>
            </a:pPr>
            <a:endParaRPr lang="en-US" sz="2400" i="1" dirty="0">
              <a:solidFill>
                <a:schemeClr val="bg1"/>
              </a:solidFill>
            </a:endParaRPr>
          </a:p>
          <a:p>
            <a:r>
              <a:rPr lang="en-US" sz="2400" i="1" dirty="0"/>
              <a:t>(</a:t>
            </a:r>
            <a:r>
              <a:rPr lang="en-US" sz="2400" i="1" dirty="0">
                <a:solidFill>
                  <a:srgbClr val="FF0000"/>
                </a:solidFill>
                <a:hlinkClick r:id="rId3">
                  <a:extLst>
                    <a:ext uri="{A12FA001-AC4F-418D-AE19-62706E023703}">
                      <ahyp:hlinkClr xmlns:ahyp="http://schemas.microsoft.com/office/drawing/2018/hyperlinkcolor" val="tx"/>
                    </a:ext>
                  </a:extLst>
                </a:hlinkClick>
              </a:rPr>
              <a:t>https://data.humdata.org</a:t>
            </a:r>
            <a:r>
              <a:rPr lang="en-US" sz="2400" i="1" dirty="0"/>
              <a:t>)</a:t>
            </a:r>
          </a:p>
          <a:p>
            <a:r>
              <a:rPr lang="en-US" sz="2400" i="1" dirty="0"/>
              <a:t>( </a:t>
            </a:r>
            <a:r>
              <a:rPr lang="en-US" sz="2400" i="1" dirty="0">
                <a:solidFill>
                  <a:srgbClr val="FF0000"/>
                </a:solidFill>
                <a:hlinkClick r:id="rId4">
                  <a:extLst>
                    <a:ext uri="{A12FA001-AC4F-418D-AE19-62706E023703}">
                      <ahyp:hlinkClr xmlns:ahyp="http://schemas.microsoft.com/office/drawing/2018/hyperlinkcolor" val="tx"/>
                    </a:ext>
                  </a:extLst>
                </a:hlinkClick>
              </a:rPr>
              <a:t>https://pmc.ncbi.nlm.nih.gov</a:t>
            </a:r>
            <a:r>
              <a:rPr lang="en-US" sz="2400" i="1" dirty="0"/>
              <a:t>).</a:t>
            </a:r>
          </a:p>
          <a:p>
            <a:r>
              <a:rPr lang="en-US" sz="2300" i="1" dirty="0"/>
              <a:t>(</a:t>
            </a:r>
            <a:r>
              <a:rPr lang="en-US" sz="2300" i="1" dirty="0">
                <a:solidFill>
                  <a:srgbClr val="FF0000"/>
                </a:solidFill>
              </a:rPr>
              <a:t>https://www.geoboundaries.org</a:t>
            </a:r>
            <a:r>
              <a:rPr lang="en-US" sz="2300" i="1" dirty="0"/>
              <a:t>).</a:t>
            </a:r>
            <a:endParaRPr lang="en-US" sz="2300" dirty="0"/>
          </a:p>
        </p:txBody>
      </p:sp>
    </p:spTree>
    <p:extLst>
      <p:ext uri="{BB962C8B-B14F-4D97-AF65-F5344CB8AC3E}">
        <p14:creationId xmlns:p14="http://schemas.microsoft.com/office/powerpoint/2010/main" val="2112537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7970</TotalTime>
  <Words>892</Words>
  <Application>Microsoft Office PowerPoint</Application>
  <PresentationFormat>On-screen Show (4:3)</PresentationFormat>
  <Paragraphs>80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Office Theme</vt:lpstr>
      <vt:lpstr> Hotspots Analysis of Malaria Prevalence. (use case: Nigeria) </vt:lpstr>
      <vt:lpstr>Abstract</vt:lpstr>
      <vt:lpstr>Introduction</vt:lpstr>
      <vt:lpstr>Aim &amp; Objectives</vt:lpstr>
      <vt:lpstr>Methodology</vt:lpstr>
      <vt:lpstr>Analysis and Techniques</vt:lpstr>
      <vt:lpstr>Correlation Heatmap</vt:lpstr>
      <vt:lpstr>Thematic Map</vt:lpstr>
      <vt:lpstr>Discussion</vt:lpstr>
      <vt:lpstr>Result Findings</vt:lpstr>
      <vt:lpstr>Conclusion and Recommendation</vt:lpstr>
      <vt:lpstr>Dataset Resource 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Malaria Prevalence Hotspot in Nigeria</dc:title>
  <dc:subject/>
  <dc:creator>MADAM ESTHER</dc:creator>
  <cp:keywords/>
  <dc:description>generated using python-pptx</dc:description>
  <cp:lastModifiedBy>SAM EKONG</cp:lastModifiedBy>
  <cp:revision>129</cp:revision>
  <dcterms:created xsi:type="dcterms:W3CDTF">2013-01-27T09:14:16Z</dcterms:created>
  <dcterms:modified xsi:type="dcterms:W3CDTF">2025-12-05T13:26:12Z</dcterms:modified>
  <cp:category/>
</cp:coreProperties>
</file>